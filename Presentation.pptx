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Anton" pitchFamily="2" charset="0"/>
      <p:regular r:id="rId29"/>
    </p:embeddedFont>
    <p:embeddedFont>
      <p:font typeface="Poppins" panose="00000500000000000000" pitchFamily="2" charset="0"/>
      <p:regular r:id="rId30"/>
    </p:embeddedFont>
    <p:embeddedFont>
      <p:font typeface="Poppins Bold" panose="00000800000000000000" charset="0"/>
      <p:regular r:id="rId31"/>
    </p:embeddedFont>
    <p:embeddedFont>
      <p:font typeface="Poppins Bold Italic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948D5-28BD-4F06-B9F2-924A4B85D21D}" v="4" dt="2026-08-22T11:03:14.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مريم مصطفى كامل فرغلى" userId="99d28261-d180-4bb1-955f-1e4a4654bcac" providerId="ADAL" clId="{8B32A6B0-59EF-4B5E-B4BE-56CE06F3AE39}"/>
    <pc:docChg chg="undo custSel modSld modMainMaster">
      <pc:chgData name="مريم مصطفى كامل فرغلى" userId="99d28261-d180-4bb1-955f-1e4a4654bcac" providerId="ADAL" clId="{8B32A6B0-59EF-4B5E-B4BE-56CE06F3AE39}" dt="2026-08-22T11:03:14.476" v="570"/>
      <pc:docMkLst>
        <pc:docMk/>
      </pc:docMkLst>
      <pc:sldChg chg="modTransition">
        <pc:chgData name="مريم مصطفى كامل فرغلى" userId="99d28261-d180-4bb1-955f-1e4a4654bcac" providerId="ADAL" clId="{8B32A6B0-59EF-4B5E-B4BE-56CE06F3AE39}" dt="2026-08-22T11:03:14.476" v="570"/>
        <pc:sldMkLst>
          <pc:docMk/>
          <pc:sldMk cId="0" sldId="256"/>
        </pc:sldMkLst>
      </pc:sldChg>
      <pc:sldChg chg="modSp mod modTransition">
        <pc:chgData name="مريم مصطفى كامل فرغلى" userId="99d28261-d180-4bb1-955f-1e4a4654bcac" providerId="ADAL" clId="{8B32A6B0-59EF-4B5E-B4BE-56CE06F3AE39}" dt="2026-08-22T11:03:14.476" v="570"/>
        <pc:sldMkLst>
          <pc:docMk/>
          <pc:sldMk cId="0" sldId="257"/>
        </pc:sldMkLst>
        <pc:spChg chg="mod">
          <ac:chgData name="مريم مصطفى كامل فرغلى" userId="99d28261-d180-4bb1-955f-1e4a4654bcac" providerId="ADAL" clId="{8B32A6B0-59EF-4B5E-B4BE-56CE06F3AE39}" dt="2026-08-22T11:01:48.196" v="560" actId="1076"/>
          <ac:spMkLst>
            <pc:docMk/>
            <pc:sldMk cId="0" sldId="257"/>
            <ac:spMk id="21" creationId="{00000000-0000-0000-0000-000000000000}"/>
          </ac:spMkLst>
        </pc:spChg>
        <pc:spChg chg="mod">
          <ac:chgData name="مريم مصطفى كامل فرغلى" userId="99d28261-d180-4bb1-955f-1e4a4654bcac" providerId="ADAL" clId="{8B32A6B0-59EF-4B5E-B4BE-56CE06F3AE39}" dt="2026-08-22T11:01:41.056" v="558" actId="14100"/>
          <ac:spMkLst>
            <pc:docMk/>
            <pc:sldMk cId="0" sldId="257"/>
            <ac:spMk id="22" creationId="{00000000-0000-0000-0000-000000000000}"/>
          </ac:spMkLst>
        </pc:spChg>
      </pc:sldChg>
      <pc:sldChg chg="modTransition">
        <pc:chgData name="مريم مصطفى كامل فرغلى" userId="99d28261-d180-4bb1-955f-1e4a4654bcac" providerId="ADAL" clId="{8B32A6B0-59EF-4B5E-B4BE-56CE06F3AE39}" dt="2026-08-22T11:03:14.476" v="570"/>
        <pc:sldMkLst>
          <pc:docMk/>
          <pc:sldMk cId="0" sldId="258"/>
        </pc:sldMkLst>
      </pc:sldChg>
      <pc:sldChg chg="modTransition">
        <pc:chgData name="مريم مصطفى كامل فرغلى" userId="99d28261-d180-4bb1-955f-1e4a4654bcac" providerId="ADAL" clId="{8B32A6B0-59EF-4B5E-B4BE-56CE06F3AE39}" dt="2026-08-22T11:03:14.476" v="570"/>
        <pc:sldMkLst>
          <pc:docMk/>
          <pc:sldMk cId="0" sldId="259"/>
        </pc:sldMkLst>
      </pc:sldChg>
      <pc:sldChg chg="addSp modSp mod modTransition">
        <pc:chgData name="مريم مصطفى كامل فرغلى" userId="99d28261-d180-4bb1-955f-1e4a4654bcac" providerId="ADAL" clId="{8B32A6B0-59EF-4B5E-B4BE-56CE06F3AE39}" dt="2026-08-22T11:03:14.476" v="570"/>
        <pc:sldMkLst>
          <pc:docMk/>
          <pc:sldMk cId="0" sldId="260"/>
        </pc:sldMkLst>
        <pc:spChg chg="mod">
          <ac:chgData name="مريم مصطفى كامل فرغلى" userId="99d28261-d180-4bb1-955f-1e4a4654bcac" providerId="ADAL" clId="{8B32A6B0-59EF-4B5E-B4BE-56CE06F3AE39}" dt="2026-08-22T10:46:20.520" v="73" actId="164"/>
          <ac:spMkLst>
            <pc:docMk/>
            <pc:sldMk cId="0" sldId="260"/>
            <ac:spMk id="9" creationId="{00000000-0000-0000-0000-000000000000}"/>
          </ac:spMkLst>
        </pc:spChg>
        <pc:spChg chg="mod">
          <ac:chgData name="مريم مصطفى كامل فرغلى" userId="99d28261-d180-4bb1-955f-1e4a4654bcac" providerId="ADAL" clId="{8B32A6B0-59EF-4B5E-B4BE-56CE06F3AE39}" dt="2026-08-22T10:46:20.520" v="73" actId="164"/>
          <ac:spMkLst>
            <pc:docMk/>
            <pc:sldMk cId="0" sldId="260"/>
            <ac:spMk id="10" creationId="{00000000-0000-0000-0000-000000000000}"/>
          </ac:spMkLst>
        </pc:spChg>
        <pc:spChg chg="mod">
          <ac:chgData name="مريم مصطفى كامل فرغلى" userId="99d28261-d180-4bb1-955f-1e4a4654bcac" providerId="ADAL" clId="{8B32A6B0-59EF-4B5E-B4BE-56CE06F3AE39}" dt="2026-08-22T10:43:04.430" v="33" actId="1076"/>
          <ac:spMkLst>
            <pc:docMk/>
            <pc:sldMk cId="0" sldId="260"/>
            <ac:spMk id="12" creationId="{00000000-0000-0000-0000-000000000000}"/>
          </ac:spMkLst>
        </pc:spChg>
        <pc:grpChg chg="mod">
          <ac:chgData name="مريم مصطفى كامل فرغلى" userId="99d28261-d180-4bb1-955f-1e4a4654bcac" providerId="ADAL" clId="{8B32A6B0-59EF-4B5E-B4BE-56CE06F3AE39}" dt="2026-08-22T10:46:20.520" v="73" actId="164"/>
          <ac:grpSpMkLst>
            <pc:docMk/>
            <pc:sldMk cId="0" sldId="260"/>
            <ac:grpSpMk id="11" creationId="{00000000-0000-0000-0000-000000000000}"/>
          </ac:grpSpMkLst>
        </pc:grpChg>
        <pc:grpChg chg="add mod">
          <ac:chgData name="مريم مصطفى كامل فرغلى" userId="99d28261-d180-4bb1-955f-1e4a4654bcac" providerId="ADAL" clId="{8B32A6B0-59EF-4B5E-B4BE-56CE06F3AE39}" dt="2026-08-22T10:46:22.999" v="74" actId="14100"/>
          <ac:grpSpMkLst>
            <pc:docMk/>
            <pc:sldMk cId="0" sldId="260"/>
            <ac:grpSpMk id="16" creationId="{D41B16CF-F309-C76A-AA09-62E042F38005}"/>
          </ac:grpSpMkLst>
        </pc:grpChg>
      </pc:sldChg>
      <pc:sldChg chg="modSp mod modTransition">
        <pc:chgData name="مريم مصطفى كامل فرغلى" userId="99d28261-d180-4bb1-955f-1e4a4654bcac" providerId="ADAL" clId="{8B32A6B0-59EF-4B5E-B4BE-56CE06F3AE39}" dt="2026-08-22T11:03:14.476" v="570"/>
        <pc:sldMkLst>
          <pc:docMk/>
          <pc:sldMk cId="0" sldId="261"/>
        </pc:sldMkLst>
        <pc:spChg chg="mod">
          <ac:chgData name="مريم مصطفى كامل فرغلى" userId="99d28261-d180-4bb1-955f-1e4a4654bcac" providerId="ADAL" clId="{8B32A6B0-59EF-4B5E-B4BE-56CE06F3AE39}" dt="2026-08-22T10:46:40.954" v="77" actId="13901"/>
          <ac:spMkLst>
            <pc:docMk/>
            <pc:sldMk cId="0" sldId="261"/>
            <ac:spMk id="14" creationId="{00000000-0000-0000-0000-000000000000}"/>
          </ac:spMkLst>
        </pc:spChg>
      </pc:sldChg>
      <pc:sldChg chg="modSp mod modTransition">
        <pc:chgData name="مريم مصطفى كامل فرغلى" userId="99d28261-d180-4bb1-955f-1e4a4654bcac" providerId="ADAL" clId="{8B32A6B0-59EF-4B5E-B4BE-56CE06F3AE39}" dt="2026-08-22T11:03:14.476" v="570"/>
        <pc:sldMkLst>
          <pc:docMk/>
          <pc:sldMk cId="0" sldId="262"/>
        </pc:sldMkLst>
        <pc:spChg chg="mod">
          <ac:chgData name="مريم مصطفى كامل فرغلى" userId="99d28261-d180-4bb1-955f-1e4a4654bcac" providerId="ADAL" clId="{8B32A6B0-59EF-4B5E-B4BE-56CE06F3AE39}" dt="2026-08-22T10:41:32.560" v="9" actId="14100"/>
          <ac:spMkLst>
            <pc:docMk/>
            <pc:sldMk cId="0" sldId="262"/>
            <ac:spMk id="8" creationId="{00000000-0000-0000-0000-000000000000}"/>
          </ac:spMkLst>
        </pc:spChg>
        <pc:spChg chg="mod">
          <ac:chgData name="مريم مصطفى كامل فرغلى" userId="99d28261-d180-4bb1-955f-1e4a4654bcac" providerId="ADAL" clId="{8B32A6B0-59EF-4B5E-B4BE-56CE06F3AE39}" dt="2026-08-22T10:41:16.656" v="6" actId="14100"/>
          <ac:spMkLst>
            <pc:docMk/>
            <pc:sldMk cId="0" sldId="262"/>
            <ac:spMk id="9" creationId="{00000000-0000-0000-0000-000000000000}"/>
          </ac:spMkLst>
        </pc:spChg>
        <pc:spChg chg="mod">
          <ac:chgData name="مريم مصطفى كامل فرغلى" userId="99d28261-d180-4bb1-955f-1e4a4654bcac" providerId="ADAL" clId="{8B32A6B0-59EF-4B5E-B4BE-56CE06F3AE39}" dt="2026-08-22T10:47:01.252" v="81" actId="13901"/>
          <ac:spMkLst>
            <pc:docMk/>
            <pc:sldMk cId="0" sldId="262"/>
            <ac:spMk id="12" creationId="{00000000-0000-0000-0000-000000000000}"/>
          </ac:spMkLst>
        </pc:spChg>
      </pc:sldChg>
      <pc:sldChg chg="modSp mod modTransition">
        <pc:chgData name="مريم مصطفى كامل فرغلى" userId="99d28261-d180-4bb1-955f-1e4a4654bcac" providerId="ADAL" clId="{8B32A6B0-59EF-4B5E-B4BE-56CE06F3AE39}" dt="2026-08-22T11:03:14.476" v="570"/>
        <pc:sldMkLst>
          <pc:docMk/>
          <pc:sldMk cId="0" sldId="263"/>
        </pc:sldMkLst>
        <pc:spChg chg="mod">
          <ac:chgData name="مريم مصطفى كامل فرغلى" userId="99d28261-d180-4bb1-955f-1e4a4654bcac" providerId="ADAL" clId="{8B32A6B0-59EF-4B5E-B4BE-56CE06F3AE39}" dt="2026-08-22T10:42:18.960" v="19" actId="14100"/>
          <ac:spMkLst>
            <pc:docMk/>
            <pc:sldMk cId="0" sldId="263"/>
            <ac:spMk id="10" creationId="{00000000-0000-0000-0000-000000000000}"/>
          </ac:spMkLst>
        </pc:spChg>
        <pc:spChg chg="mod">
          <ac:chgData name="مريم مصطفى كامل فرغلى" userId="99d28261-d180-4bb1-955f-1e4a4654bcac" providerId="ADAL" clId="{8B32A6B0-59EF-4B5E-B4BE-56CE06F3AE39}" dt="2026-08-22T10:42:12.560" v="17" actId="255"/>
          <ac:spMkLst>
            <pc:docMk/>
            <pc:sldMk cId="0" sldId="263"/>
            <ac:spMk id="12" creationId="{00000000-0000-0000-0000-000000000000}"/>
          </ac:spMkLst>
        </pc:spChg>
        <pc:grpChg chg="mod">
          <ac:chgData name="مريم مصطفى كامل فرغلى" userId="99d28261-d180-4bb1-955f-1e4a4654bcac" providerId="ADAL" clId="{8B32A6B0-59EF-4B5E-B4BE-56CE06F3AE39}" dt="2026-08-22T10:42:26.860" v="22" actId="14100"/>
          <ac:grpSpMkLst>
            <pc:docMk/>
            <pc:sldMk cId="0" sldId="263"/>
            <ac:grpSpMk id="8"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64"/>
        </pc:sldMkLst>
        <pc:spChg chg="mod">
          <ac:chgData name="مريم مصطفى كامل فرغلى" userId="99d28261-d180-4bb1-955f-1e4a4654bcac" providerId="ADAL" clId="{8B32A6B0-59EF-4B5E-B4BE-56CE06F3AE39}" dt="2026-08-22T10:47:36.988" v="83" actId="1076"/>
          <ac:spMkLst>
            <pc:docMk/>
            <pc:sldMk cId="0" sldId="264"/>
            <ac:spMk id="2" creationId="{00000000-0000-0000-0000-000000000000}"/>
          </ac:spMkLst>
        </pc:spChg>
        <pc:spChg chg="mod">
          <ac:chgData name="مريم مصطفى كامل فرغلى" userId="99d28261-d180-4bb1-955f-1e4a4654bcac" providerId="ADAL" clId="{8B32A6B0-59EF-4B5E-B4BE-56CE06F3AE39}" dt="2026-08-22T10:48:10.943" v="92" actId="14100"/>
          <ac:spMkLst>
            <pc:docMk/>
            <pc:sldMk cId="0" sldId="264"/>
            <ac:spMk id="8" creationId="{00000000-0000-0000-0000-000000000000}"/>
          </ac:spMkLst>
        </pc:spChg>
        <pc:spChg chg="mod">
          <ac:chgData name="مريم مصطفى كامل فرغلى" userId="99d28261-d180-4bb1-955f-1e4a4654bcac" providerId="ADAL" clId="{8B32A6B0-59EF-4B5E-B4BE-56CE06F3AE39}" dt="2026-08-22T10:48:05.520" v="90" actId="1076"/>
          <ac:spMkLst>
            <pc:docMk/>
            <pc:sldMk cId="0" sldId="264"/>
            <ac:spMk id="9" creationId="{00000000-0000-0000-0000-000000000000}"/>
          </ac:spMkLst>
        </pc:spChg>
        <pc:spChg chg="mod">
          <ac:chgData name="مريم مصطفى كامل فرغلى" userId="99d28261-d180-4bb1-955f-1e4a4654bcac" providerId="ADAL" clId="{8B32A6B0-59EF-4B5E-B4BE-56CE06F3AE39}" dt="2026-08-22T10:48:00.231" v="89" actId="404"/>
          <ac:spMkLst>
            <pc:docMk/>
            <pc:sldMk cId="0" sldId="264"/>
            <ac:spMk id="11" creationId="{00000000-0000-0000-0000-000000000000}"/>
          </ac:spMkLst>
        </pc:spChg>
      </pc:sldChg>
      <pc:sldChg chg="modSp mod modTransition">
        <pc:chgData name="مريم مصطفى كامل فرغلى" userId="99d28261-d180-4bb1-955f-1e4a4654bcac" providerId="ADAL" clId="{8B32A6B0-59EF-4B5E-B4BE-56CE06F3AE39}" dt="2026-08-22T11:03:14.476" v="570"/>
        <pc:sldMkLst>
          <pc:docMk/>
          <pc:sldMk cId="0" sldId="265"/>
        </pc:sldMkLst>
        <pc:spChg chg="mod">
          <ac:chgData name="مريم مصطفى كامل فرغلى" userId="99d28261-d180-4bb1-955f-1e4a4654bcac" providerId="ADAL" clId="{8B32A6B0-59EF-4B5E-B4BE-56CE06F3AE39}" dt="2026-08-22T10:48:31.321" v="94" actId="1076"/>
          <ac:spMkLst>
            <pc:docMk/>
            <pc:sldMk cId="0" sldId="265"/>
            <ac:spMk id="11" creationId="{00000000-0000-0000-0000-000000000000}"/>
          </ac:spMkLst>
        </pc:spChg>
        <pc:spChg chg="mod">
          <ac:chgData name="مريم مصطفى كامل فرغلى" userId="99d28261-d180-4bb1-955f-1e4a4654bcac" providerId="ADAL" clId="{8B32A6B0-59EF-4B5E-B4BE-56CE06F3AE39}" dt="2026-08-22T10:48:50.039" v="99" actId="120"/>
          <ac:spMkLst>
            <pc:docMk/>
            <pc:sldMk cId="0" sldId="265"/>
            <ac:spMk id="13" creationId="{00000000-0000-0000-0000-000000000000}"/>
          </ac:spMkLst>
        </pc:spChg>
        <pc:grpChg chg="mod">
          <ac:chgData name="مريم مصطفى كامل فرغلى" userId="99d28261-d180-4bb1-955f-1e4a4654bcac" providerId="ADAL" clId="{8B32A6B0-59EF-4B5E-B4BE-56CE06F3AE39}" dt="2026-08-22T10:48:39.086" v="96" actId="1076"/>
          <ac:grpSpMkLst>
            <pc:docMk/>
            <pc:sldMk cId="0" sldId="265"/>
            <ac:grpSpMk id="7" creationId="{00000000-0000-0000-0000-000000000000}"/>
          </ac:grpSpMkLst>
        </pc:grpChg>
        <pc:grpChg chg="mod">
          <ac:chgData name="مريم مصطفى كامل فرغلى" userId="99d28261-d180-4bb1-955f-1e4a4654bcac" providerId="ADAL" clId="{8B32A6B0-59EF-4B5E-B4BE-56CE06F3AE39}" dt="2026-08-22T10:48:41.294" v="97" actId="1076"/>
          <ac:grpSpMkLst>
            <pc:docMk/>
            <pc:sldMk cId="0" sldId="265"/>
            <ac:grpSpMk id="9"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66"/>
        </pc:sldMkLst>
        <pc:spChg chg="mod">
          <ac:chgData name="مريم مصطفى كامل فرغلى" userId="99d28261-d180-4bb1-955f-1e4a4654bcac" providerId="ADAL" clId="{8B32A6B0-59EF-4B5E-B4BE-56CE06F3AE39}" dt="2026-08-22T10:49:07.802" v="101" actId="1076"/>
          <ac:spMkLst>
            <pc:docMk/>
            <pc:sldMk cId="0" sldId="266"/>
            <ac:spMk id="11" creationId="{00000000-0000-0000-0000-000000000000}"/>
          </ac:spMkLst>
        </pc:spChg>
        <pc:spChg chg="mod">
          <ac:chgData name="مريم مصطفى كامل فرغلى" userId="99d28261-d180-4bb1-955f-1e4a4654bcac" providerId="ADAL" clId="{8B32A6B0-59EF-4B5E-B4BE-56CE06F3AE39}" dt="2026-08-22T10:49:19.688" v="104" actId="1076"/>
          <ac:spMkLst>
            <pc:docMk/>
            <pc:sldMk cId="0" sldId="266"/>
            <ac:spMk id="13" creationId="{00000000-0000-0000-0000-000000000000}"/>
          </ac:spMkLst>
        </pc:spChg>
        <pc:grpChg chg="mod">
          <ac:chgData name="مريم مصطفى كامل فرغلى" userId="99d28261-d180-4bb1-955f-1e4a4654bcac" providerId="ADAL" clId="{8B32A6B0-59EF-4B5E-B4BE-56CE06F3AE39}" dt="2026-08-22T10:43:23.253" v="37" actId="14100"/>
          <ac:grpSpMkLst>
            <pc:docMk/>
            <pc:sldMk cId="0" sldId="266"/>
            <ac:grpSpMk id="7" creationId="{00000000-0000-0000-0000-000000000000}"/>
          </ac:grpSpMkLst>
        </pc:grpChg>
        <pc:grpChg chg="mod">
          <ac:chgData name="مريم مصطفى كامل فرغلى" userId="99d28261-d180-4bb1-955f-1e4a4654bcac" providerId="ADAL" clId="{8B32A6B0-59EF-4B5E-B4BE-56CE06F3AE39}" dt="2026-08-22T10:43:29.877" v="40" actId="14100"/>
          <ac:grpSpMkLst>
            <pc:docMk/>
            <pc:sldMk cId="0" sldId="266"/>
            <ac:grpSpMk id="9"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67"/>
        </pc:sldMkLst>
        <pc:spChg chg="mod">
          <ac:chgData name="مريم مصطفى كامل فرغلى" userId="99d28261-d180-4bb1-955f-1e4a4654bcac" providerId="ADAL" clId="{8B32A6B0-59EF-4B5E-B4BE-56CE06F3AE39}" dt="2026-08-22T10:43:52.818" v="43" actId="1076"/>
          <ac:spMkLst>
            <pc:docMk/>
            <pc:sldMk cId="0" sldId="267"/>
            <ac:spMk id="11" creationId="{00000000-0000-0000-0000-000000000000}"/>
          </ac:spMkLst>
        </pc:spChg>
        <pc:spChg chg="mod">
          <ac:chgData name="مريم مصطفى كامل فرغلى" userId="99d28261-d180-4bb1-955f-1e4a4654bcac" providerId="ADAL" clId="{8B32A6B0-59EF-4B5E-B4BE-56CE06F3AE39}" dt="2026-08-22T10:44:12.527" v="47" actId="13901"/>
          <ac:spMkLst>
            <pc:docMk/>
            <pc:sldMk cId="0" sldId="267"/>
            <ac:spMk id="13" creationId="{00000000-0000-0000-0000-000000000000}"/>
          </ac:spMkLst>
        </pc:spChg>
        <pc:grpChg chg="mod">
          <ac:chgData name="مريم مصطفى كامل فرغلى" userId="99d28261-d180-4bb1-955f-1e4a4654bcac" providerId="ADAL" clId="{8B32A6B0-59EF-4B5E-B4BE-56CE06F3AE39}" dt="2026-08-22T10:44:19.628" v="48" actId="1076"/>
          <ac:grpSpMkLst>
            <pc:docMk/>
            <pc:sldMk cId="0" sldId="267"/>
            <ac:grpSpMk id="5" creationId="{00000000-0000-0000-0000-000000000000}"/>
          </ac:grpSpMkLst>
        </pc:grpChg>
        <pc:grpChg chg="mod">
          <ac:chgData name="مريم مصطفى كامل فرغلى" userId="99d28261-d180-4bb1-955f-1e4a4654bcac" providerId="ADAL" clId="{8B32A6B0-59EF-4B5E-B4BE-56CE06F3AE39}" dt="2026-08-22T10:44:29.593" v="51" actId="14100"/>
          <ac:grpSpMkLst>
            <pc:docMk/>
            <pc:sldMk cId="0" sldId="267"/>
            <ac:grpSpMk id="9"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68"/>
        </pc:sldMkLst>
        <pc:spChg chg="mod">
          <ac:chgData name="مريم مصطفى كامل فرغلى" userId="99d28261-d180-4bb1-955f-1e4a4654bcac" providerId="ADAL" clId="{8B32A6B0-59EF-4B5E-B4BE-56CE06F3AE39}" dt="2026-08-22T10:45:10.099" v="57" actId="1076"/>
          <ac:spMkLst>
            <pc:docMk/>
            <pc:sldMk cId="0" sldId="268"/>
            <ac:spMk id="11" creationId="{00000000-0000-0000-0000-000000000000}"/>
          </ac:spMkLst>
        </pc:spChg>
        <pc:spChg chg="mod">
          <ac:chgData name="مريم مصطفى كامل فرغلى" userId="99d28261-d180-4bb1-955f-1e4a4654bcac" providerId="ADAL" clId="{8B32A6B0-59EF-4B5E-B4BE-56CE06F3AE39}" dt="2026-08-22T10:45:21.880" v="60" actId="1076"/>
          <ac:spMkLst>
            <pc:docMk/>
            <pc:sldMk cId="0" sldId="268"/>
            <ac:spMk id="13" creationId="{00000000-0000-0000-0000-000000000000}"/>
          </ac:spMkLst>
        </pc:spChg>
        <pc:grpChg chg="mod">
          <ac:chgData name="مريم مصطفى كامل فرغلى" userId="99d28261-d180-4bb1-955f-1e4a4654bcac" providerId="ADAL" clId="{8B32A6B0-59EF-4B5E-B4BE-56CE06F3AE39}" dt="2026-08-22T10:45:30.035" v="62" actId="14100"/>
          <ac:grpSpMkLst>
            <pc:docMk/>
            <pc:sldMk cId="0" sldId="268"/>
            <ac:grpSpMk id="7" creationId="{00000000-0000-0000-0000-000000000000}"/>
          </ac:grpSpMkLst>
        </pc:grpChg>
        <pc:grpChg chg="mod">
          <ac:chgData name="مريم مصطفى كامل فرغلى" userId="99d28261-d180-4bb1-955f-1e4a4654bcac" providerId="ADAL" clId="{8B32A6B0-59EF-4B5E-B4BE-56CE06F3AE39}" dt="2026-08-22T10:45:31.637" v="63" actId="1076"/>
          <ac:grpSpMkLst>
            <pc:docMk/>
            <pc:sldMk cId="0" sldId="268"/>
            <ac:grpSpMk id="9"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69"/>
        </pc:sldMkLst>
        <pc:grpChg chg="mod">
          <ac:chgData name="مريم مصطفى كامل فرغلى" userId="99d28261-d180-4bb1-955f-1e4a4654bcac" providerId="ADAL" clId="{8B32A6B0-59EF-4B5E-B4BE-56CE06F3AE39}" dt="2026-08-22T10:45:42.105" v="64" actId="1076"/>
          <ac:grpSpMkLst>
            <pc:docMk/>
            <pc:sldMk cId="0" sldId="269"/>
            <ac:grpSpMk id="5" creationId="{00000000-0000-0000-0000-000000000000}"/>
          </ac:grpSpMkLst>
        </pc:grpChg>
      </pc:sldChg>
      <pc:sldChg chg="addSp modSp mod modTransition">
        <pc:chgData name="مريم مصطفى كامل فرغلى" userId="99d28261-d180-4bb1-955f-1e4a4654bcac" providerId="ADAL" clId="{8B32A6B0-59EF-4B5E-B4BE-56CE06F3AE39}" dt="2026-08-22T11:03:14.476" v="570"/>
        <pc:sldMkLst>
          <pc:docMk/>
          <pc:sldMk cId="0" sldId="270"/>
        </pc:sldMkLst>
        <pc:spChg chg="mod">
          <ac:chgData name="مريم مصطفى كامل فرغلى" userId="99d28261-d180-4bb1-955f-1e4a4654bcac" providerId="ADAL" clId="{8B32A6B0-59EF-4B5E-B4BE-56CE06F3AE39}" dt="2026-08-22T11:01:12.665" v="555" actId="1076"/>
          <ac:spMkLst>
            <pc:docMk/>
            <pc:sldMk cId="0" sldId="270"/>
            <ac:spMk id="7" creationId="{00000000-0000-0000-0000-000000000000}"/>
          </ac:spMkLst>
        </pc:spChg>
        <pc:spChg chg="mod">
          <ac:chgData name="مريم مصطفى كامل فرغلى" userId="99d28261-d180-4bb1-955f-1e4a4654bcac" providerId="ADAL" clId="{8B32A6B0-59EF-4B5E-B4BE-56CE06F3AE39}" dt="2026-08-22T11:01:17.130" v="557" actId="14100"/>
          <ac:spMkLst>
            <pc:docMk/>
            <pc:sldMk cId="0" sldId="270"/>
            <ac:spMk id="8" creationId="{00000000-0000-0000-0000-000000000000}"/>
          </ac:spMkLst>
        </pc:spChg>
        <pc:spChg chg="mod">
          <ac:chgData name="مريم مصطفى كامل فرغلى" userId="99d28261-d180-4bb1-955f-1e4a4654bcac" providerId="ADAL" clId="{8B32A6B0-59EF-4B5E-B4BE-56CE06F3AE39}" dt="2026-08-22T11:01:04.860" v="553" actId="1076"/>
          <ac:spMkLst>
            <pc:docMk/>
            <pc:sldMk cId="0" sldId="270"/>
            <ac:spMk id="9" creationId="{00000000-0000-0000-0000-000000000000}"/>
          </ac:spMkLst>
        </pc:spChg>
        <pc:spChg chg="add mod">
          <ac:chgData name="مريم مصطفى كامل فرغلى" userId="99d28261-d180-4bb1-955f-1e4a4654bcac" providerId="ADAL" clId="{8B32A6B0-59EF-4B5E-B4BE-56CE06F3AE39}" dt="2026-08-22T11:01:08.980" v="554" actId="14100"/>
          <ac:spMkLst>
            <pc:docMk/>
            <pc:sldMk cId="0" sldId="270"/>
            <ac:spMk id="12" creationId="{2F4EB8CA-3B32-7818-D272-EB02D473AB34}"/>
          </ac:spMkLst>
        </pc:spChg>
      </pc:sldChg>
      <pc:sldChg chg="modSp mod modTransition">
        <pc:chgData name="مريم مصطفى كامل فرغلى" userId="99d28261-d180-4bb1-955f-1e4a4654bcac" providerId="ADAL" clId="{8B32A6B0-59EF-4B5E-B4BE-56CE06F3AE39}" dt="2026-08-22T11:03:14.476" v="570"/>
        <pc:sldMkLst>
          <pc:docMk/>
          <pc:sldMk cId="0" sldId="271"/>
        </pc:sldMkLst>
        <pc:spChg chg="mod">
          <ac:chgData name="مريم مصطفى كامل فرغلى" userId="99d28261-d180-4bb1-955f-1e4a4654bcac" providerId="ADAL" clId="{8B32A6B0-59EF-4B5E-B4BE-56CE06F3AE39}" dt="2026-08-22T10:50:04.792" v="110" actId="1076"/>
          <ac:spMkLst>
            <pc:docMk/>
            <pc:sldMk cId="0" sldId="271"/>
            <ac:spMk id="26" creationId="{00000000-0000-0000-0000-000000000000}"/>
          </ac:spMkLst>
        </pc:spChg>
        <pc:spChg chg="mod">
          <ac:chgData name="مريم مصطفى كامل فرغلى" userId="99d28261-d180-4bb1-955f-1e4a4654bcac" providerId="ADAL" clId="{8B32A6B0-59EF-4B5E-B4BE-56CE06F3AE39}" dt="2026-08-22T10:50:08.380" v="111" actId="1076"/>
          <ac:spMkLst>
            <pc:docMk/>
            <pc:sldMk cId="0" sldId="271"/>
            <ac:spMk id="27" creationId="{00000000-0000-0000-0000-000000000000}"/>
          </ac:spMkLst>
        </pc:spChg>
        <pc:spChg chg="mod">
          <ac:chgData name="مريم مصطفى كامل فرغلى" userId="99d28261-d180-4bb1-955f-1e4a4654bcac" providerId="ADAL" clId="{8B32A6B0-59EF-4B5E-B4BE-56CE06F3AE39}" dt="2026-08-22T10:50:14.850" v="112" actId="1076"/>
          <ac:spMkLst>
            <pc:docMk/>
            <pc:sldMk cId="0" sldId="271"/>
            <ac:spMk id="28" creationId="{00000000-0000-0000-0000-000000000000}"/>
          </ac:spMkLst>
        </pc:spChg>
        <pc:spChg chg="mod">
          <ac:chgData name="مريم مصطفى كامل فرغلى" userId="99d28261-d180-4bb1-955f-1e4a4654bcac" providerId="ADAL" clId="{8B32A6B0-59EF-4B5E-B4BE-56CE06F3AE39}" dt="2026-08-22T10:49:53.664" v="107" actId="14100"/>
          <ac:spMkLst>
            <pc:docMk/>
            <pc:sldMk cId="0" sldId="271"/>
            <ac:spMk id="39" creationId="{00000000-0000-0000-0000-000000000000}"/>
          </ac:spMkLst>
        </pc:spChg>
        <pc:spChg chg="mod">
          <ac:chgData name="مريم مصطفى كامل فرغلى" userId="99d28261-d180-4bb1-955f-1e4a4654bcac" providerId="ADAL" clId="{8B32A6B0-59EF-4B5E-B4BE-56CE06F3AE39}" dt="2026-08-22T10:50:22.380" v="114" actId="1076"/>
          <ac:spMkLst>
            <pc:docMk/>
            <pc:sldMk cId="0" sldId="271"/>
            <ac:spMk id="40" creationId="{00000000-0000-0000-0000-000000000000}"/>
          </ac:spMkLst>
        </pc:spChg>
        <pc:spChg chg="mod">
          <ac:chgData name="مريم مصطفى كامل فرغلى" userId="99d28261-d180-4bb1-955f-1e4a4654bcac" providerId="ADAL" clId="{8B32A6B0-59EF-4B5E-B4BE-56CE06F3AE39}" dt="2026-08-22T10:50:19.033" v="113" actId="14100"/>
          <ac:spMkLst>
            <pc:docMk/>
            <pc:sldMk cId="0" sldId="271"/>
            <ac:spMk id="41" creationId="{00000000-0000-0000-0000-000000000000}"/>
          </ac:spMkLst>
        </pc:spChg>
      </pc:sldChg>
      <pc:sldChg chg="modTransition">
        <pc:chgData name="مريم مصطفى كامل فرغلى" userId="99d28261-d180-4bb1-955f-1e4a4654bcac" providerId="ADAL" clId="{8B32A6B0-59EF-4B5E-B4BE-56CE06F3AE39}" dt="2026-08-22T11:03:14.476" v="570"/>
        <pc:sldMkLst>
          <pc:docMk/>
          <pc:sldMk cId="0" sldId="272"/>
        </pc:sldMkLst>
      </pc:sldChg>
      <pc:sldChg chg="modSp mod modTransition">
        <pc:chgData name="مريم مصطفى كامل فرغلى" userId="99d28261-d180-4bb1-955f-1e4a4654bcac" providerId="ADAL" clId="{8B32A6B0-59EF-4B5E-B4BE-56CE06F3AE39}" dt="2026-08-22T11:03:14.476" v="570"/>
        <pc:sldMkLst>
          <pc:docMk/>
          <pc:sldMk cId="0" sldId="273"/>
        </pc:sldMkLst>
        <pc:spChg chg="mod">
          <ac:chgData name="مريم مصطفى كامل فرغلى" userId="99d28261-d180-4bb1-955f-1e4a4654bcac" providerId="ADAL" clId="{8B32A6B0-59EF-4B5E-B4BE-56CE06F3AE39}" dt="2026-08-22T10:50:35.408" v="115" actId="14100"/>
          <ac:spMkLst>
            <pc:docMk/>
            <pc:sldMk cId="0" sldId="273"/>
            <ac:spMk id="16" creationId="{00000000-0000-0000-0000-000000000000}"/>
          </ac:spMkLst>
        </pc:spChg>
      </pc:sldChg>
      <pc:sldChg chg="modSp mod modTransition">
        <pc:chgData name="مريم مصطفى كامل فرغلى" userId="99d28261-d180-4bb1-955f-1e4a4654bcac" providerId="ADAL" clId="{8B32A6B0-59EF-4B5E-B4BE-56CE06F3AE39}" dt="2026-08-22T11:03:14.476" v="570"/>
        <pc:sldMkLst>
          <pc:docMk/>
          <pc:sldMk cId="0" sldId="274"/>
        </pc:sldMkLst>
        <pc:spChg chg="mod">
          <ac:chgData name="مريم مصطفى كامل فرغلى" userId="99d28261-d180-4bb1-955f-1e4a4654bcac" providerId="ADAL" clId="{8B32A6B0-59EF-4B5E-B4BE-56CE06F3AE39}" dt="2026-08-22T10:51:04.607" v="124" actId="14100"/>
          <ac:spMkLst>
            <pc:docMk/>
            <pc:sldMk cId="0" sldId="274"/>
            <ac:spMk id="7" creationId="{00000000-0000-0000-0000-000000000000}"/>
          </ac:spMkLst>
        </pc:spChg>
        <pc:spChg chg="mod">
          <ac:chgData name="مريم مصطفى كامل فرغلى" userId="99d28261-d180-4bb1-955f-1e4a4654bcac" providerId="ADAL" clId="{8B32A6B0-59EF-4B5E-B4BE-56CE06F3AE39}" dt="2026-08-22T10:51:07.372" v="125" actId="14100"/>
          <ac:spMkLst>
            <pc:docMk/>
            <pc:sldMk cId="0" sldId="274"/>
            <ac:spMk id="8" creationId="{00000000-0000-0000-0000-000000000000}"/>
          </ac:spMkLst>
        </pc:spChg>
        <pc:spChg chg="mod">
          <ac:chgData name="مريم مصطفى كامل فرغلى" userId="99d28261-d180-4bb1-955f-1e4a4654bcac" providerId="ADAL" clId="{8B32A6B0-59EF-4B5E-B4BE-56CE06F3AE39}" dt="2026-08-22T10:50:50.266" v="119" actId="14100"/>
          <ac:spMkLst>
            <pc:docMk/>
            <pc:sldMk cId="0" sldId="274"/>
            <ac:spMk id="11" creationId="{00000000-0000-0000-0000-000000000000}"/>
          </ac:spMkLst>
        </pc:spChg>
      </pc:sldChg>
      <pc:sldChg chg="modSp mod modTransition">
        <pc:chgData name="مريم مصطفى كامل فرغلى" userId="99d28261-d180-4bb1-955f-1e4a4654bcac" providerId="ADAL" clId="{8B32A6B0-59EF-4B5E-B4BE-56CE06F3AE39}" dt="2026-08-22T11:03:14.476" v="570"/>
        <pc:sldMkLst>
          <pc:docMk/>
          <pc:sldMk cId="0" sldId="275"/>
        </pc:sldMkLst>
        <pc:spChg chg="mod">
          <ac:chgData name="مريم مصطفى كامل فرغلى" userId="99d28261-d180-4bb1-955f-1e4a4654bcac" providerId="ADAL" clId="{8B32A6B0-59EF-4B5E-B4BE-56CE06F3AE39}" dt="2026-08-22T11:02:45.504" v="568" actId="1076"/>
          <ac:spMkLst>
            <pc:docMk/>
            <pc:sldMk cId="0" sldId="275"/>
            <ac:spMk id="7" creationId="{00000000-0000-0000-0000-000000000000}"/>
          </ac:spMkLst>
        </pc:spChg>
        <pc:spChg chg="mod">
          <ac:chgData name="مريم مصطفى كامل فرغلى" userId="99d28261-d180-4bb1-955f-1e4a4654bcac" providerId="ADAL" clId="{8B32A6B0-59EF-4B5E-B4BE-56CE06F3AE39}" dt="2026-08-22T11:02:43.760" v="567" actId="1076"/>
          <ac:spMkLst>
            <pc:docMk/>
            <pc:sldMk cId="0" sldId="275"/>
            <ac:spMk id="8" creationId="{00000000-0000-0000-0000-000000000000}"/>
          </ac:spMkLst>
        </pc:spChg>
        <pc:spChg chg="mod">
          <ac:chgData name="مريم مصطفى كامل فرغلى" userId="99d28261-d180-4bb1-955f-1e4a4654bcac" providerId="ADAL" clId="{8B32A6B0-59EF-4B5E-B4BE-56CE06F3AE39}" dt="2026-08-22T11:02:38.871" v="564" actId="1076"/>
          <ac:spMkLst>
            <pc:docMk/>
            <pc:sldMk cId="0" sldId="275"/>
            <ac:spMk id="11" creationId="{00000000-0000-0000-0000-000000000000}"/>
          </ac:spMkLst>
        </pc:spChg>
      </pc:sldChg>
      <pc:sldChg chg="delSp modSp mod modTransition">
        <pc:chgData name="مريم مصطفى كامل فرغلى" userId="99d28261-d180-4bb1-955f-1e4a4654bcac" providerId="ADAL" clId="{8B32A6B0-59EF-4B5E-B4BE-56CE06F3AE39}" dt="2026-08-22T11:03:14.476" v="570"/>
        <pc:sldMkLst>
          <pc:docMk/>
          <pc:sldMk cId="0" sldId="276"/>
        </pc:sldMkLst>
        <pc:spChg chg="del">
          <ac:chgData name="مريم مصطفى كامل فرغلى" userId="99d28261-d180-4bb1-955f-1e4a4654bcac" providerId="ADAL" clId="{8B32A6B0-59EF-4B5E-B4BE-56CE06F3AE39}" dt="2026-08-22T10:51:20.597" v="129" actId="478"/>
          <ac:spMkLst>
            <pc:docMk/>
            <pc:sldMk cId="0" sldId="276"/>
            <ac:spMk id="7" creationId="{00000000-0000-0000-0000-000000000000}"/>
          </ac:spMkLst>
        </pc:spChg>
        <pc:spChg chg="mod">
          <ac:chgData name="مريم مصطفى كامل فرغلى" userId="99d28261-d180-4bb1-955f-1e4a4654bcac" providerId="ADAL" clId="{8B32A6B0-59EF-4B5E-B4BE-56CE06F3AE39}" dt="2026-08-22T10:51:40.330" v="135" actId="14100"/>
          <ac:spMkLst>
            <pc:docMk/>
            <pc:sldMk cId="0" sldId="276"/>
            <ac:spMk id="8" creationId="{00000000-0000-0000-0000-000000000000}"/>
          </ac:spMkLst>
        </pc:spChg>
        <pc:spChg chg="mod">
          <ac:chgData name="مريم مصطفى كامل فرغلى" userId="99d28261-d180-4bb1-955f-1e4a4654bcac" providerId="ADAL" clId="{8B32A6B0-59EF-4B5E-B4BE-56CE06F3AE39}" dt="2026-08-22T10:51:52.337" v="141" actId="14100"/>
          <ac:spMkLst>
            <pc:docMk/>
            <pc:sldMk cId="0" sldId="276"/>
            <ac:spMk id="9" creationId="{00000000-0000-0000-0000-000000000000}"/>
          </ac:spMkLst>
        </pc:spChg>
        <pc:spChg chg="mod">
          <ac:chgData name="مريم مصطفى كامل فرغلى" userId="99d28261-d180-4bb1-955f-1e4a4654bcac" providerId="ADAL" clId="{8B32A6B0-59EF-4B5E-B4BE-56CE06F3AE39}" dt="2026-08-22T10:51:34.618" v="133" actId="120"/>
          <ac:spMkLst>
            <pc:docMk/>
            <pc:sldMk cId="0" sldId="276"/>
            <ac:spMk id="12" creationId="{00000000-0000-0000-0000-000000000000}"/>
          </ac:spMkLst>
        </pc:spChg>
      </pc:sldChg>
      <pc:sldChg chg="addSp delSp modSp mod modTransition">
        <pc:chgData name="مريم مصطفى كامل فرغلى" userId="99d28261-d180-4bb1-955f-1e4a4654bcac" providerId="ADAL" clId="{8B32A6B0-59EF-4B5E-B4BE-56CE06F3AE39}" dt="2026-08-22T11:03:14.476" v="570"/>
        <pc:sldMkLst>
          <pc:docMk/>
          <pc:sldMk cId="0" sldId="277"/>
        </pc:sldMkLst>
        <pc:spChg chg="mod">
          <ac:chgData name="مريم مصطفى كامل فرغلى" userId="99d28261-d180-4bb1-955f-1e4a4654bcac" providerId="ADAL" clId="{8B32A6B0-59EF-4B5E-B4BE-56CE06F3AE39}" dt="2026-08-22T10:52:30.718" v="158" actId="14100"/>
          <ac:spMkLst>
            <pc:docMk/>
            <pc:sldMk cId="0" sldId="277"/>
            <ac:spMk id="9" creationId="{00000000-0000-0000-0000-000000000000}"/>
          </ac:spMkLst>
        </pc:spChg>
        <pc:spChg chg="mod">
          <ac:chgData name="مريم مصطفى كامل فرغلى" userId="99d28261-d180-4bb1-955f-1e4a4654bcac" providerId="ADAL" clId="{8B32A6B0-59EF-4B5E-B4BE-56CE06F3AE39}" dt="2026-08-22T10:52:33.781" v="159" actId="1076"/>
          <ac:spMkLst>
            <pc:docMk/>
            <pc:sldMk cId="0" sldId="277"/>
            <ac:spMk id="10" creationId="{00000000-0000-0000-0000-000000000000}"/>
          </ac:spMkLst>
        </pc:spChg>
        <pc:spChg chg="add del mod">
          <ac:chgData name="مريم مصطفى كامل فرغلى" userId="99d28261-d180-4bb1-955f-1e4a4654bcac" providerId="ADAL" clId="{8B32A6B0-59EF-4B5E-B4BE-56CE06F3AE39}" dt="2026-08-22T10:52:42.035" v="162" actId="14100"/>
          <ac:spMkLst>
            <pc:docMk/>
            <pc:sldMk cId="0" sldId="277"/>
            <ac:spMk id="11" creationId="{00000000-0000-0000-0000-000000000000}"/>
          </ac:spMkLst>
        </pc:spChg>
        <pc:spChg chg="add del mod">
          <ac:chgData name="مريم مصطفى كامل فرغلى" userId="99d28261-d180-4bb1-955f-1e4a4654bcac" providerId="ADAL" clId="{8B32A6B0-59EF-4B5E-B4BE-56CE06F3AE39}" dt="2026-08-22T10:52:50.382" v="165" actId="14100"/>
          <ac:spMkLst>
            <pc:docMk/>
            <pc:sldMk cId="0" sldId="277"/>
            <ac:spMk id="12" creationId="{00000000-0000-0000-0000-000000000000}"/>
          </ac:spMkLst>
        </pc:spChg>
        <pc:spChg chg="del mod">
          <ac:chgData name="مريم مصطفى كامل فرغلى" userId="99d28261-d180-4bb1-955f-1e4a4654bcac" providerId="ADAL" clId="{8B32A6B0-59EF-4B5E-B4BE-56CE06F3AE39}" dt="2026-08-22T10:52:15.888" v="148" actId="478"/>
          <ac:spMkLst>
            <pc:docMk/>
            <pc:sldMk cId="0" sldId="277"/>
            <ac:spMk id="13" creationId="{00000000-0000-0000-0000-000000000000}"/>
          </ac:spMkLst>
        </pc:spChg>
        <pc:spChg chg="mod">
          <ac:chgData name="مريم مصطفى كامل فرغلى" userId="99d28261-d180-4bb1-955f-1e4a4654bcac" providerId="ADAL" clId="{8B32A6B0-59EF-4B5E-B4BE-56CE06F3AE39}" dt="2026-08-22T10:52:54.266" v="166" actId="1076"/>
          <ac:spMkLst>
            <pc:docMk/>
            <pc:sldMk cId="0" sldId="277"/>
            <ac:spMk id="14" creationId="{00000000-0000-0000-0000-000000000000}"/>
          </ac:spMkLst>
        </pc:spChg>
        <pc:grpChg chg="mod">
          <ac:chgData name="مريم مصطفى كامل فرغلى" userId="99d28261-d180-4bb1-955f-1e4a4654bcac" providerId="ADAL" clId="{8B32A6B0-59EF-4B5E-B4BE-56CE06F3AE39}" dt="2026-08-22T10:52:28.237" v="157" actId="14100"/>
          <ac:grpSpMkLst>
            <pc:docMk/>
            <pc:sldMk cId="0" sldId="277"/>
            <ac:grpSpMk id="7"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78"/>
        </pc:sldMkLst>
        <pc:spChg chg="mod">
          <ac:chgData name="مريم مصطفى كامل فرغلى" userId="99d28261-d180-4bb1-955f-1e4a4654bcac" providerId="ADAL" clId="{8B32A6B0-59EF-4B5E-B4BE-56CE06F3AE39}" dt="2026-08-22T10:53:07.660" v="168" actId="14100"/>
          <ac:spMkLst>
            <pc:docMk/>
            <pc:sldMk cId="0" sldId="278"/>
            <ac:spMk id="9" creationId="{00000000-0000-0000-0000-000000000000}"/>
          </ac:spMkLst>
        </pc:spChg>
        <pc:grpChg chg="mod">
          <ac:chgData name="مريم مصطفى كامل فرغلى" userId="99d28261-d180-4bb1-955f-1e4a4654bcac" providerId="ADAL" clId="{8B32A6B0-59EF-4B5E-B4BE-56CE06F3AE39}" dt="2026-08-22T10:53:16.921" v="170" actId="1076"/>
          <ac:grpSpMkLst>
            <pc:docMk/>
            <pc:sldMk cId="0" sldId="278"/>
            <ac:grpSpMk id="10"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79"/>
        </pc:sldMkLst>
        <pc:spChg chg="mod">
          <ac:chgData name="مريم مصطفى كامل فرغلى" userId="99d28261-d180-4bb1-955f-1e4a4654bcac" providerId="ADAL" clId="{8B32A6B0-59EF-4B5E-B4BE-56CE06F3AE39}" dt="2026-08-22T10:53:31.303" v="173" actId="14100"/>
          <ac:spMkLst>
            <pc:docMk/>
            <pc:sldMk cId="0" sldId="279"/>
            <ac:spMk id="9" creationId="{00000000-0000-0000-0000-000000000000}"/>
          </ac:spMkLst>
        </pc:spChg>
        <pc:grpChg chg="mod">
          <ac:chgData name="مريم مصطفى كامل فرغلى" userId="99d28261-d180-4bb1-955f-1e4a4654bcac" providerId="ADAL" clId="{8B32A6B0-59EF-4B5E-B4BE-56CE06F3AE39}" dt="2026-08-22T10:53:35.237" v="174" actId="1076"/>
          <ac:grpSpMkLst>
            <pc:docMk/>
            <pc:sldMk cId="0" sldId="279"/>
            <ac:grpSpMk id="10" creationId="{00000000-0000-0000-0000-000000000000}"/>
          </ac:grpSpMkLst>
        </pc:grpChg>
      </pc:sldChg>
      <pc:sldChg chg="modSp mod modTransition">
        <pc:chgData name="مريم مصطفى كامل فرغلى" userId="99d28261-d180-4bb1-955f-1e4a4654bcac" providerId="ADAL" clId="{8B32A6B0-59EF-4B5E-B4BE-56CE06F3AE39}" dt="2026-08-22T11:03:14.476" v="570"/>
        <pc:sldMkLst>
          <pc:docMk/>
          <pc:sldMk cId="0" sldId="280"/>
        </pc:sldMkLst>
        <pc:spChg chg="mod">
          <ac:chgData name="مريم مصطفى كامل فرغلى" userId="99d28261-d180-4bb1-955f-1e4a4654bcac" providerId="ADAL" clId="{8B32A6B0-59EF-4B5E-B4BE-56CE06F3AE39}" dt="2026-08-22T10:57:52.797" v="356" actId="14100"/>
          <ac:spMkLst>
            <pc:docMk/>
            <pc:sldMk cId="0" sldId="280"/>
            <ac:spMk id="11" creationId="{00000000-0000-0000-0000-000000000000}"/>
          </ac:spMkLst>
        </pc:spChg>
      </pc:sldChg>
      <pc:sldChg chg="addSp delSp modSp mod modTransition">
        <pc:chgData name="مريم مصطفى كامل فرغلى" userId="99d28261-d180-4bb1-955f-1e4a4654bcac" providerId="ADAL" clId="{8B32A6B0-59EF-4B5E-B4BE-56CE06F3AE39}" dt="2026-08-22T11:03:14.476" v="570"/>
        <pc:sldMkLst>
          <pc:docMk/>
          <pc:sldMk cId="0" sldId="281"/>
        </pc:sldMkLst>
        <pc:spChg chg="mod">
          <ac:chgData name="مريم مصطفى كامل فرغلى" userId="99d28261-d180-4bb1-955f-1e4a4654bcac" providerId="ADAL" clId="{8B32A6B0-59EF-4B5E-B4BE-56CE06F3AE39}" dt="2026-08-22T10:57:15.100" v="349" actId="20577"/>
          <ac:spMkLst>
            <pc:docMk/>
            <pc:sldMk cId="0" sldId="281"/>
            <ac:spMk id="5" creationId="{00000000-0000-0000-0000-000000000000}"/>
          </ac:spMkLst>
        </pc:spChg>
        <pc:spChg chg="add mod">
          <ac:chgData name="مريم مصطفى كامل فرغلى" userId="99d28261-d180-4bb1-955f-1e4a4654bcac" providerId="ADAL" clId="{8B32A6B0-59EF-4B5E-B4BE-56CE06F3AE39}" dt="2026-08-22T10:56:29.389" v="285" actId="1076"/>
          <ac:spMkLst>
            <pc:docMk/>
            <pc:sldMk cId="0" sldId="281"/>
            <ac:spMk id="7" creationId="{8B02056B-ACCF-6C13-8F99-D3141FD09C27}"/>
          </ac:spMkLst>
        </pc:spChg>
        <pc:spChg chg="add del mod">
          <ac:chgData name="مريم مصطفى كامل فرغلى" userId="99d28261-d180-4bb1-955f-1e4a4654bcac" providerId="ADAL" clId="{8B32A6B0-59EF-4B5E-B4BE-56CE06F3AE39}" dt="2026-08-22T10:57:13.838" v="348"/>
          <ac:spMkLst>
            <pc:docMk/>
            <pc:sldMk cId="0" sldId="281"/>
            <ac:spMk id="8" creationId="{A00E2670-DC95-3B88-0CCE-20D06FA4D87C}"/>
          </ac:spMkLst>
        </pc:spChg>
        <pc:grpChg chg="mod">
          <ac:chgData name="مريم مصطفى كامل فرغلى" userId="99d28261-d180-4bb1-955f-1e4a4654bcac" providerId="ADAL" clId="{8B32A6B0-59EF-4B5E-B4BE-56CE06F3AE39}" dt="2026-08-22T10:40:20.981" v="0" actId="1076"/>
          <ac:grpSpMkLst>
            <pc:docMk/>
            <pc:sldMk cId="0" sldId="281"/>
            <ac:grpSpMk id="2" creationId="{00000000-0000-0000-0000-000000000000}"/>
          </ac:grpSpMkLst>
        </pc:grpChg>
      </pc:sldChg>
      <pc:sldMasterChg chg="modTransition modSldLayout">
        <pc:chgData name="مريم مصطفى كامل فرغلى" userId="99d28261-d180-4bb1-955f-1e4a4654bcac" providerId="ADAL" clId="{8B32A6B0-59EF-4B5E-B4BE-56CE06F3AE39}" dt="2026-08-22T11:03:14.476" v="570"/>
        <pc:sldMasterMkLst>
          <pc:docMk/>
          <pc:sldMasterMk cId="0" sldId="2147483648"/>
        </pc:sldMasterMkLst>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49"/>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0"/>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1"/>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2"/>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3"/>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4"/>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5"/>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6"/>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7"/>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8"/>
          </pc:sldLayoutMkLst>
        </pc:sldLayoutChg>
        <pc:sldLayoutChg chg="modTransition">
          <pc:chgData name="مريم مصطفى كامل فرغلى" userId="99d28261-d180-4bb1-955f-1e4a4654bcac" providerId="ADAL" clId="{8B32A6B0-59EF-4B5E-B4BE-56CE06F3AE39}" dt="2026-08-22T11:03:14.476" v="570"/>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ECE8D8-450C-4419-9236-9B2469B84A2A}" type="datetimeFigureOut">
              <a:rPr lang="en-US" smtClean="0"/>
              <a:t>22-Aug-26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5FB750-7DA0-43AE-97E6-1934745514B5}" type="slidenum">
              <a:rPr lang="en-US" smtClean="0"/>
              <a:t>‹#›</a:t>
            </a:fld>
            <a:endParaRPr lang="en-US"/>
          </a:p>
        </p:txBody>
      </p:sp>
    </p:spTree>
    <p:extLst>
      <p:ext uri="{BB962C8B-B14F-4D97-AF65-F5344CB8AC3E}">
        <p14:creationId xmlns:p14="http://schemas.microsoft.com/office/powerpoint/2010/main" val="4093314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5FB750-7DA0-43AE-97E6-1934745514B5}" type="slidenum">
              <a:rPr lang="en-US" smtClean="0"/>
              <a:t>26</a:t>
            </a:fld>
            <a:endParaRPr lang="en-US"/>
          </a:p>
        </p:txBody>
      </p:sp>
    </p:spTree>
    <p:extLst>
      <p:ext uri="{BB962C8B-B14F-4D97-AF65-F5344CB8AC3E}">
        <p14:creationId xmlns:p14="http://schemas.microsoft.com/office/powerpoint/2010/main" val="1089774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sv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5133220" y="1215691"/>
            <a:ext cx="8543951" cy="4114800"/>
            <a:chOff x="0" y="0"/>
            <a:chExt cx="2239113" cy="1078366"/>
          </a:xfrm>
        </p:grpSpPr>
        <p:sp>
          <p:nvSpPr>
            <p:cNvPr id="3" name="Freeform 3"/>
            <p:cNvSpPr/>
            <p:nvPr/>
          </p:nvSpPr>
          <p:spPr>
            <a:xfrm>
              <a:off x="0" y="0"/>
              <a:ext cx="2239113" cy="1078365"/>
            </a:xfrm>
            <a:custGeom>
              <a:avLst/>
              <a:gdLst/>
              <a:ahLst/>
              <a:cxnLst/>
              <a:rect l="l" t="t" r="r" b="b"/>
              <a:pathLst>
                <a:path w="2239113" h="1078365">
                  <a:moveTo>
                    <a:pt x="0" y="0"/>
                  </a:moveTo>
                  <a:lnTo>
                    <a:pt x="2239113" y="0"/>
                  </a:lnTo>
                  <a:lnTo>
                    <a:pt x="2239113" y="1078365"/>
                  </a:lnTo>
                  <a:lnTo>
                    <a:pt x="0" y="1078365"/>
                  </a:lnTo>
                  <a:close/>
                </a:path>
              </a:pathLst>
            </a:custGeom>
            <a:blipFill>
              <a:blip r:embed="rId2"/>
              <a:stretch>
                <a:fillRect t="-18039" b="-18039"/>
              </a:stretch>
            </a:blipFill>
          </p:spPr>
          <p:txBody>
            <a:bodyPr/>
            <a:lstStyle/>
            <a:p>
              <a:endParaRPr lang="en-US"/>
            </a:p>
          </p:txBody>
        </p:sp>
      </p:grpSp>
      <p:grpSp>
        <p:nvGrpSpPr>
          <p:cNvPr id="4" name="Group 4"/>
          <p:cNvGrpSpPr/>
          <p:nvPr/>
        </p:nvGrpSpPr>
        <p:grpSpPr>
          <a:xfrm>
            <a:off x="476746" y="2496001"/>
            <a:ext cx="6058489" cy="3530463"/>
            <a:chOff x="0" y="0"/>
            <a:chExt cx="1650219" cy="961632"/>
          </a:xfrm>
        </p:grpSpPr>
        <p:sp>
          <p:nvSpPr>
            <p:cNvPr id="5" name="Freeform 5"/>
            <p:cNvSpPr/>
            <p:nvPr/>
          </p:nvSpPr>
          <p:spPr>
            <a:xfrm>
              <a:off x="0" y="0"/>
              <a:ext cx="1650218" cy="961632"/>
            </a:xfrm>
            <a:custGeom>
              <a:avLst/>
              <a:gdLst/>
              <a:ahLst/>
              <a:cxnLst/>
              <a:rect l="l" t="t" r="r" b="b"/>
              <a:pathLst>
                <a:path w="1650218" h="961632">
                  <a:moveTo>
                    <a:pt x="0" y="0"/>
                  </a:moveTo>
                  <a:lnTo>
                    <a:pt x="1650218" y="0"/>
                  </a:lnTo>
                  <a:lnTo>
                    <a:pt x="1650218" y="961632"/>
                  </a:lnTo>
                  <a:lnTo>
                    <a:pt x="0" y="961632"/>
                  </a:lnTo>
                  <a:close/>
                </a:path>
              </a:pathLst>
            </a:custGeom>
            <a:solidFill>
              <a:srgbClr val="071436"/>
            </a:solidFill>
          </p:spPr>
          <p:txBody>
            <a:bodyPr/>
            <a:lstStyle/>
            <a:p>
              <a:endParaRPr lang="en-US"/>
            </a:p>
          </p:txBody>
        </p:sp>
      </p:grpSp>
      <p:grpSp>
        <p:nvGrpSpPr>
          <p:cNvPr id="6" name="Group 6"/>
          <p:cNvGrpSpPr/>
          <p:nvPr/>
        </p:nvGrpSpPr>
        <p:grpSpPr>
          <a:xfrm>
            <a:off x="0" y="2702156"/>
            <a:ext cx="6296862" cy="3455104"/>
            <a:chOff x="0" y="0"/>
            <a:chExt cx="1650219" cy="905479"/>
          </a:xfrm>
        </p:grpSpPr>
        <p:sp>
          <p:nvSpPr>
            <p:cNvPr id="7" name="Freeform 7"/>
            <p:cNvSpPr/>
            <p:nvPr/>
          </p:nvSpPr>
          <p:spPr>
            <a:xfrm>
              <a:off x="0" y="0"/>
              <a:ext cx="1650218" cy="905479"/>
            </a:xfrm>
            <a:custGeom>
              <a:avLst/>
              <a:gdLst/>
              <a:ahLst/>
              <a:cxnLst/>
              <a:rect l="l" t="t" r="r" b="b"/>
              <a:pathLst>
                <a:path w="1650218" h="905479">
                  <a:moveTo>
                    <a:pt x="0" y="0"/>
                  </a:moveTo>
                  <a:lnTo>
                    <a:pt x="1650218" y="0"/>
                  </a:lnTo>
                  <a:lnTo>
                    <a:pt x="1650218" y="905479"/>
                  </a:lnTo>
                  <a:lnTo>
                    <a:pt x="0" y="905479"/>
                  </a:lnTo>
                  <a:close/>
                </a:path>
              </a:pathLst>
            </a:custGeom>
            <a:blipFill>
              <a:blip r:embed="rId3"/>
              <a:stretch>
                <a:fillRect t="-1195" b="-1195"/>
              </a:stretch>
            </a:blipFill>
          </p:spPr>
          <p:txBody>
            <a:bodyPr/>
            <a:lstStyle/>
            <a:p>
              <a:endParaRPr lang="en-US"/>
            </a:p>
          </p:txBody>
        </p:sp>
      </p:grpSp>
      <p:grpSp>
        <p:nvGrpSpPr>
          <p:cNvPr id="8" name="Group 8"/>
          <p:cNvGrpSpPr/>
          <p:nvPr/>
        </p:nvGrpSpPr>
        <p:grpSpPr>
          <a:xfrm>
            <a:off x="11804498" y="174543"/>
            <a:ext cx="6058489" cy="3530463"/>
            <a:chOff x="0" y="0"/>
            <a:chExt cx="1650219" cy="961632"/>
          </a:xfrm>
        </p:grpSpPr>
        <p:sp>
          <p:nvSpPr>
            <p:cNvPr id="9" name="Freeform 9"/>
            <p:cNvSpPr/>
            <p:nvPr/>
          </p:nvSpPr>
          <p:spPr>
            <a:xfrm>
              <a:off x="0" y="0"/>
              <a:ext cx="1650218" cy="961632"/>
            </a:xfrm>
            <a:custGeom>
              <a:avLst/>
              <a:gdLst/>
              <a:ahLst/>
              <a:cxnLst/>
              <a:rect l="l" t="t" r="r" b="b"/>
              <a:pathLst>
                <a:path w="1650218" h="961632">
                  <a:moveTo>
                    <a:pt x="0" y="0"/>
                  </a:moveTo>
                  <a:lnTo>
                    <a:pt x="1650218" y="0"/>
                  </a:lnTo>
                  <a:lnTo>
                    <a:pt x="1650218" y="961632"/>
                  </a:lnTo>
                  <a:lnTo>
                    <a:pt x="0" y="961632"/>
                  </a:lnTo>
                  <a:close/>
                </a:path>
              </a:pathLst>
            </a:custGeom>
            <a:solidFill>
              <a:srgbClr val="071436"/>
            </a:solidFill>
          </p:spPr>
          <p:txBody>
            <a:bodyPr/>
            <a:lstStyle/>
            <a:p>
              <a:endParaRPr lang="en-US"/>
            </a:p>
          </p:txBody>
        </p:sp>
      </p:grpSp>
      <p:grpSp>
        <p:nvGrpSpPr>
          <p:cNvPr id="10" name="Group 10"/>
          <p:cNvGrpSpPr/>
          <p:nvPr/>
        </p:nvGrpSpPr>
        <p:grpSpPr>
          <a:xfrm>
            <a:off x="11991138" y="0"/>
            <a:ext cx="6296862" cy="3455104"/>
            <a:chOff x="0" y="0"/>
            <a:chExt cx="1650219" cy="905479"/>
          </a:xfrm>
        </p:grpSpPr>
        <p:sp>
          <p:nvSpPr>
            <p:cNvPr id="11" name="Freeform 11"/>
            <p:cNvSpPr/>
            <p:nvPr/>
          </p:nvSpPr>
          <p:spPr>
            <a:xfrm>
              <a:off x="0" y="0"/>
              <a:ext cx="1650218" cy="905479"/>
            </a:xfrm>
            <a:custGeom>
              <a:avLst/>
              <a:gdLst/>
              <a:ahLst/>
              <a:cxnLst/>
              <a:rect l="l" t="t" r="r" b="b"/>
              <a:pathLst>
                <a:path w="1650218" h="905479">
                  <a:moveTo>
                    <a:pt x="0" y="0"/>
                  </a:moveTo>
                  <a:lnTo>
                    <a:pt x="1650218" y="0"/>
                  </a:lnTo>
                  <a:lnTo>
                    <a:pt x="1650218" y="905479"/>
                  </a:lnTo>
                  <a:lnTo>
                    <a:pt x="0" y="905479"/>
                  </a:lnTo>
                  <a:close/>
                </a:path>
              </a:pathLst>
            </a:custGeom>
            <a:blipFill>
              <a:blip r:embed="rId4"/>
              <a:stretch>
                <a:fillRect t="-8284" b="-8284"/>
              </a:stretch>
            </a:blipFill>
          </p:spPr>
          <p:txBody>
            <a:bodyPr/>
            <a:lstStyle/>
            <a:p>
              <a:endParaRPr lang="en-US"/>
            </a:p>
          </p:txBody>
        </p:sp>
      </p:grpSp>
      <p:grpSp>
        <p:nvGrpSpPr>
          <p:cNvPr id="12" name="Group 12"/>
          <p:cNvGrpSpPr/>
          <p:nvPr/>
        </p:nvGrpSpPr>
        <p:grpSpPr>
          <a:xfrm>
            <a:off x="-396365" y="8956675"/>
            <a:ext cx="1746223" cy="1452297"/>
            <a:chOff x="0" y="0"/>
            <a:chExt cx="1650219" cy="1372452"/>
          </a:xfrm>
        </p:grpSpPr>
        <p:sp>
          <p:nvSpPr>
            <p:cNvPr id="13" name="Freeform 13"/>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sp>
        <p:nvSpPr>
          <p:cNvPr id="14" name="Freeform 14"/>
          <p:cNvSpPr/>
          <p:nvPr/>
        </p:nvSpPr>
        <p:spPr>
          <a:xfrm>
            <a:off x="74224" y="0"/>
            <a:ext cx="2551267" cy="1233112"/>
          </a:xfrm>
          <a:custGeom>
            <a:avLst/>
            <a:gdLst/>
            <a:ahLst/>
            <a:cxnLst/>
            <a:rect l="l" t="t" r="r" b="b"/>
            <a:pathLst>
              <a:path w="2551267" h="1233112">
                <a:moveTo>
                  <a:pt x="0" y="0"/>
                </a:moveTo>
                <a:lnTo>
                  <a:pt x="2551267" y="0"/>
                </a:lnTo>
                <a:lnTo>
                  <a:pt x="2551267" y="1233112"/>
                </a:lnTo>
                <a:lnTo>
                  <a:pt x="0" y="1233112"/>
                </a:lnTo>
                <a:lnTo>
                  <a:pt x="0" y="0"/>
                </a:lnTo>
                <a:close/>
              </a:path>
            </a:pathLst>
          </a:custGeom>
          <a:blipFill>
            <a:blip r:embed="rId5"/>
            <a:stretch>
              <a:fillRect/>
            </a:stretch>
          </a:blipFill>
        </p:spPr>
        <p:txBody>
          <a:bodyPr/>
          <a:lstStyle/>
          <a:p>
            <a:endParaRPr lang="en-US"/>
          </a:p>
        </p:txBody>
      </p:sp>
      <p:sp>
        <p:nvSpPr>
          <p:cNvPr id="15" name="TextBox 15"/>
          <p:cNvSpPr txBox="1"/>
          <p:nvPr/>
        </p:nvSpPr>
        <p:spPr>
          <a:xfrm>
            <a:off x="6535236" y="5606716"/>
            <a:ext cx="10538525" cy="2358390"/>
          </a:xfrm>
          <a:prstGeom prst="rect">
            <a:avLst/>
          </a:prstGeom>
        </p:spPr>
        <p:txBody>
          <a:bodyPr lIns="0" tIns="0" rIns="0" bIns="0" rtlCol="0" anchor="t">
            <a:spAutoFit/>
          </a:bodyPr>
          <a:lstStyle/>
          <a:p>
            <a:pPr algn="l">
              <a:lnSpc>
                <a:spcPts val="9179"/>
              </a:lnSpc>
            </a:pPr>
            <a:r>
              <a:rPr lang="en-US" sz="8499">
                <a:solidFill>
                  <a:srgbClr val="F7DDAA"/>
                </a:solidFill>
                <a:latin typeface="Anton"/>
                <a:ea typeface="Anton"/>
                <a:cs typeface="Anton"/>
                <a:sym typeface="Anton"/>
              </a:rPr>
              <a:t>ROAD ACCIDENT ANALYSIS IN EGYPT</a:t>
            </a:r>
          </a:p>
        </p:txBody>
      </p:sp>
      <p:sp>
        <p:nvSpPr>
          <p:cNvPr id="16" name="TextBox 16"/>
          <p:cNvSpPr txBox="1"/>
          <p:nvPr/>
        </p:nvSpPr>
        <p:spPr>
          <a:xfrm>
            <a:off x="11324172" y="9616149"/>
            <a:ext cx="6538815" cy="368300"/>
          </a:xfrm>
          <a:prstGeom prst="rect">
            <a:avLst/>
          </a:prstGeom>
        </p:spPr>
        <p:txBody>
          <a:bodyPr lIns="0" tIns="0" rIns="0" bIns="0" rtlCol="0" anchor="t">
            <a:spAutoFit/>
          </a:bodyPr>
          <a:lstStyle/>
          <a:p>
            <a:pPr algn="r">
              <a:lnSpc>
                <a:spcPts val="2800"/>
              </a:lnSpc>
            </a:pPr>
            <a:r>
              <a:rPr lang="en-US" sz="2000">
                <a:solidFill>
                  <a:srgbClr val="F7DDAA"/>
                </a:solidFill>
                <a:latin typeface="Poppins"/>
                <a:ea typeface="Poppins"/>
                <a:cs typeface="Poppins"/>
                <a:sym typeface="Poppins"/>
              </a:rPr>
              <a:t>NTI’S GRADUATION PROJECT  | AUG 22, 2026</a:t>
            </a:r>
          </a:p>
        </p:txBody>
      </p:sp>
      <p:sp>
        <p:nvSpPr>
          <p:cNvPr id="17" name="TextBox 17"/>
          <p:cNvSpPr txBox="1"/>
          <p:nvPr/>
        </p:nvSpPr>
        <p:spPr>
          <a:xfrm>
            <a:off x="6535236" y="7965105"/>
            <a:ext cx="10538525" cy="1606956"/>
          </a:xfrm>
          <a:prstGeom prst="rect">
            <a:avLst/>
          </a:prstGeom>
        </p:spPr>
        <p:txBody>
          <a:bodyPr lIns="0" tIns="0" rIns="0" bIns="0" rtlCol="0" anchor="t">
            <a:spAutoFit/>
          </a:bodyPr>
          <a:lstStyle/>
          <a:p>
            <a:pPr algn="l">
              <a:lnSpc>
                <a:spcPts val="6330"/>
              </a:lnSpc>
            </a:pPr>
            <a:r>
              <a:rPr lang="en-US" sz="5319" spc="111">
                <a:solidFill>
                  <a:srgbClr val="FFFFFF"/>
                </a:solidFill>
                <a:latin typeface="Anton"/>
                <a:ea typeface="Anton"/>
                <a:cs typeface="Anton"/>
                <a:sym typeface="Anton"/>
              </a:rPr>
              <a:t>TURNING HISTORICAL DATA INTO ACTIONABLE INSIGHTS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8718277" y="3213942"/>
            <a:ext cx="11907982" cy="5504941"/>
            <a:chOff x="0" y="0"/>
            <a:chExt cx="940878" cy="434958"/>
          </a:xfrm>
        </p:grpSpPr>
        <p:sp>
          <p:nvSpPr>
            <p:cNvPr id="3" name="Freeform 3"/>
            <p:cNvSpPr/>
            <p:nvPr/>
          </p:nvSpPr>
          <p:spPr>
            <a:xfrm>
              <a:off x="0" y="0"/>
              <a:ext cx="940878" cy="434958"/>
            </a:xfrm>
            <a:custGeom>
              <a:avLst/>
              <a:gdLst/>
              <a:ahLst/>
              <a:cxnLst/>
              <a:rect l="l" t="t" r="r" b="b"/>
              <a:pathLst>
                <a:path w="940878" h="434958">
                  <a:moveTo>
                    <a:pt x="0" y="0"/>
                  </a:moveTo>
                  <a:lnTo>
                    <a:pt x="940878" y="0"/>
                  </a:lnTo>
                  <a:lnTo>
                    <a:pt x="940878" y="434958"/>
                  </a:lnTo>
                  <a:lnTo>
                    <a:pt x="0" y="434958"/>
                  </a:lnTo>
                  <a:close/>
                </a:path>
              </a:pathLst>
            </a:custGeom>
            <a:blipFill>
              <a:blip r:embed="rId2"/>
              <a:stretch>
                <a:fillRect t="-27272" b="-27272"/>
              </a:stretch>
            </a:blipFill>
          </p:spPr>
          <p:txBody>
            <a:bodyPr/>
            <a:lstStyle/>
            <a:p>
              <a:endParaRPr lang="en-US"/>
            </a:p>
          </p:txBody>
        </p:sp>
      </p:grpSp>
      <p:grpSp>
        <p:nvGrpSpPr>
          <p:cNvPr id="4" name="Group 4"/>
          <p:cNvGrpSpPr/>
          <p:nvPr/>
        </p:nvGrpSpPr>
        <p:grpSpPr>
          <a:xfrm>
            <a:off x="145778" y="154328"/>
            <a:ext cx="445747" cy="44574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7" name="AutoShape 7"/>
          <p:cNvSpPr/>
          <p:nvPr/>
        </p:nvSpPr>
        <p:spPr>
          <a:xfrm>
            <a:off x="476746" y="3559897"/>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8" name="AutoShape 8"/>
          <p:cNvSpPr/>
          <p:nvPr/>
        </p:nvSpPr>
        <p:spPr>
          <a:xfrm>
            <a:off x="561359" y="4757388"/>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9" name="AutoShape 9"/>
          <p:cNvSpPr/>
          <p:nvPr/>
        </p:nvSpPr>
        <p:spPr>
          <a:xfrm>
            <a:off x="591525" y="6132798"/>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0" name="AutoShape 10"/>
          <p:cNvSpPr/>
          <p:nvPr/>
        </p:nvSpPr>
        <p:spPr>
          <a:xfrm>
            <a:off x="476746" y="2272117"/>
            <a:ext cx="6815129" cy="0"/>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11" name="Group 11"/>
          <p:cNvGrpSpPr/>
          <p:nvPr/>
        </p:nvGrpSpPr>
        <p:grpSpPr>
          <a:xfrm>
            <a:off x="-396365" y="8956675"/>
            <a:ext cx="1746223" cy="1452297"/>
            <a:chOff x="0" y="0"/>
            <a:chExt cx="1650219" cy="1372452"/>
          </a:xfrm>
        </p:grpSpPr>
        <p:sp>
          <p:nvSpPr>
            <p:cNvPr id="12" name="Freeform 12"/>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13" name="TextBox 13"/>
          <p:cNvSpPr txBox="1"/>
          <p:nvPr/>
        </p:nvSpPr>
        <p:spPr>
          <a:xfrm>
            <a:off x="-187435" y="1123950"/>
            <a:ext cx="10612256"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ROAD ACCIDENTS IN EGYPT</a:t>
            </a:r>
          </a:p>
        </p:txBody>
      </p:sp>
      <p:sp>
        <p:nvSpPr>
          <p:cNvPr id="14" name="TextBox 14"/>
          <p:cNvSpPr txBox="1"/>
          <p:nvPr/>
        </p:nvSpPr>
        <p:spPr>
          <a:xfrm>
            <a:off x="344044" y="2899791"/>
            <a:ext cx="3371381" cy="360084"/>
          </a:xfrm>
          <a:prstGeom prst="rect">
            <a:avLst/>
          </a:prstGeom>
        </p:spPr>
        <p:txBody>
          <a:bodyPr lIns="0" tIns="0" rIns="0" bIns="0" rtlCol="0" anchor="t">
            <a:spAutoFit/>
          </a:bodyPr>
          <a:lstStyle/>
          <a:p>
            <a:pPr algn="r">
              <a:lnSpc>
                <a:spcPts val="2567"/>
              </a:lnSpc>
              <a:spcBef>
                <a:spcPct val="0"/>
              </a:spcBef>
            </a:pPr>
            <a:r>
              <a:rPr lang="en-US" sz="2377">
                <a:solidFill>
                  <a:srgbClr val="071436"/>
                </a:solidFill>
                <a:latin typeface="Poppins"/>
                <a:ea typeface="Poppins"/>
                <a:cs typeface="Poppins"/>
                <a:sym typeface="Poppins"/>
              </a:rPr>
              <a:t>Total Affected people </a:t>
            </a:r>
          </a:p>
        </p:txBody>
      </p:sp>
      <p:sp>
        <p:nvSpPr>
          <p:cNvPr id="15" name="TextBox 15"/>
          <p:cNvSpPr txBox="1"/>
          <p:nvPr/>
        </p:nvSpPr>
        <p:spPr>
          <a:xfrm>
            <a:off x="561359" y="4282183"/>
            <a:ext cx="1687267" cy="297180"/>
          </a:xfrm>
          <a:prstGeom prst="rect">
            <a:avLst/>
          </a:prstGeom>
        </p:spPr>
        <p:txBody>
          <a:bodyPr lIns="0" tIns="0" rIns="0" bIns="0" rtlCol="0" anchor="t">
            <a:spAutoFit/>
          </a:bodyPr>
          <a:lstStyle/>
          <a:p>
            <a:pPr algn="r">
              <a:lnSpc>
                <a:spcPts val="2160"/>
              </a:lnSpc>
              <a:spcBef>
                <a:spcPct val="0"/>
              </a:spcBef>
            </a:pPr>
            <a:r>
              <a:rPr lang="en-US" sz="2000">
                <a:solidFill>
                  <a:srgbClr val="071436"/>
                </a:solidFill>
                <a:latin typeface="Poppins"/>
                <a:ea typeface="Poppins"/>
                <a:cs typeface="Poppins"/>
                <a:sym typeface="Poppins"/>
              </a:rPr>
              <a:t>Total Deaths</a:t>
            </a:r>
          </a:p>
        </p:txBody>
      </p:sp>
      <p:sp>
        <p:nvSpPr>
          <p:cNvPr id="16" name="TextBox 16"/>
          <p:cNvSpPr txBox="1"/>
          <p:nvPr/>
        </p:nvSpPr>
        <p:spPr>
          <a:xfrm>
            <a:off x="479275" y="5481288"/>
            <a:ext cx="2085686" cy="360426"/>
          </a:xfrm>
          <a:prstGeom prst="rect">
            <a:avLst/>
          </a:prstGeom>
        </p:spPr>
        <p:txBody>
          <a:bodyPr lIns="0" tIns="0" rIns="0" bIns="0" rtlCol="0" anchor="t">
            <a:spAutoFit/>
          </a:bodyPr>
          <a:lstStyle/>
          <a:p>
            <a:pPr algn="r">
              <a:lnSpc>
                <a:spcPts val="2604"/>
              </a:lnSpc>
              <a:spcBef>
                <a:spcPct val="0"/>
              </a:spcBef>
            </a:pPr>
            <a:r>
              <a:rPr lang="en-US" sz="2411">
                <a:solidFill>
                  <a:srgbClr val="071436"/>
                </a:solidFill>
                <a:latin typeface="Poppins"/>
                <a:ea typeface="Poppins"/>
                <a:cs typeface="Poppins"/>
                <a:sym typeface="Poppins"/>
              </a:rPr>
              <a:t>Total Inguries</a:t>
            </a:r>
          </a:p>
        </p:txBody>
      </p:sp>
      <p:sp>
        <p:nvSpPr>
          <p:cNvPr id="17" name="TextBox 17"/>
          <p:cNvSpPr txBox="1"/>
          <p:nvPr/>
        </p:nvSpPr>
        <p:spPr>
          <a:xfrm>
            <a:off x="591525" y="2548890"/>
            <a:ext cx="874350" cy="350901"/>
          </a:xfrm>
          <a:prstGeom prst="rect">
            <a:avLst/>
          </a:prstGeom>
        </p:spPr>
        <p:txBody>
          <a:bodyPr lIns="0" tIns="0" rIns="0" bIns="0" rtlCol="0" anchor="t">
            <a:spAutoFit/>
          </a:bodyPr>
          <a:lstStyle/>
          <a:p>
            <a:pPr algn="just">
              <a:lnSpc>
                <a:spcPts val="2591"/>
              </a:lnSpc>
              <a:spcBef>
                <a:spcPct val="0"/>
              </a:spcBef>
            </a:pPr>
            <a:r>
              <a:rPr lang="en-US" sz="2399" b="1">
                <a:solidFill>
                  <a:srgbClr val="071436"/>
                </a:solidFill>
                <a:latin typeface="Poppins Bold"/>
                <a:ea typeface="Poppins Bold"/>
                <a:cs typeface="Poppins Bold"/>
                <a:sym typeface="Poppins Bold"/>
              </a:rPr>
              <a:t>371k</a:t>
            </a:r>
          </a:p>
        </p:txBody>
      </p:sp>
      <p:sp>
        <p:nvSpPr>
          <p:cNvPr id="18" name="TextBox 18"/>
          <p:cNvSpPr txBox="1"/>
          <p:nvPr/>
        </p:nvSpPr>
        <p:spPr>
          <a:xfrm>
            <a:off x="561359" y="3690012"/>
            <a:ext cx="874350" cy="423672"/>
          </a:xfrm>
          <a:prstGeom prst="rect">
            <a:avLst/>
          </a:prstGeom>
        </p:spPr>
        <p:txBody>
          <a:bodyPr lIns="0" tIns="0" rIns="0" bIns="0" rtlCol="0" anchor="t">
            <a:spAutoFit/>
          </a:bodyPr>
          <a:lstStyle/>
          <a:p>
            <a:pPr algn="just">
              <a:lnSpc>
                <a:spcPts val="3023"/>
              </a:lnSpc>
              <a:spcBef>
                <a:spcPct val="0"/>
              </a:spcBef>
            </a:pPr>
            <a:r>
              <a:rPr lang="en-US" sz="2799" b="1">
                <a:solidFill>
                  <a:srgbClr val="071436"/>
                </a:solidFill>
                <a:latin typeface="Poppins Bold"/>
                <a:ea typeface="Poppins Bold"/>
                <a:cs typeface="Poppins Bold"/>
                <a:sym typeface="Poppins Bold"/>
              </a:rPr>
              <a:t>32k</a:t>
            </a:r>
          </a:p>
        </p:txBody>
      </p:sp>
      <p:sp>
        <p:nvSpPr>
          <p:cNvPr id="19" name="TextBox 19"/>
          <p:cNvSpPr txBox="1"/>
          <p:nvPr/>
        </p:nvSpPr>
        <p:spPr>
          <a:xfrm>
            <a:off x="591525" y="5109813"/>
            <a:ext cx="874350" cy="403098"/>
          </a:xfrm>
          <a:prstGeom prst="rect">
            <a:avLst/>
          </a:prstGeom>
        </p:spPr>
        <p:txBody>
          <a:bodyPr lIns="0" tIns="0" rIns="0" bIns="0" rtlCol="0" anchor="t">
            <a:spAutoFit/>
          </a:bodyPr>
          <a:lstStyle/>
          <a:p>
            <a:pPr algn="just">
              <a:lnSpc>
                <a:spcPts val="2915"/>
              </a:lnSpc>
              <a:spcBef>
                <a:spcPct val="0"/>
              </a:spcBef>
            </a:pPr>
            <a:r>
              <a:rPr lang="en-US" sz="2699" b="1">
                <a:solidFill>
                  <a:srgbClr val="071436"/>
                </a:solidFill>
                <a:latin typeface="Poppins Bold"/>
                <a:ea typeface="Poppins Bold"/>
                <a:cs typeface="Poppins Bold"/>
                <a:sym typeface="Poppins Bold"/>
              </a:rPr>
              <a:t>339k</a:t>
            </a:r>
          </a:p>
        </p:txBody>
      </p:sp>
      <p:sp>
        <p:nvSpPr>
          <p:cNvPr id="20" name="TextBox 2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01</a:t>
            </a:r>
          </a:p>
        </p:txBody>
      </p:sp>
      <p:sp>
        <p:nvSpPr>
          <p:cNvPr id="21" name="TextBox 21"/>
          <p:cNvSpPr txBox="1"/>
          <p:nvPr/>
        </p:nvSpPr>
        <p:spPr>
          <a:xfrm>
            <a:off x="62148" y="7079755"/>
            <a:ext cx="8656129" cy="426335"/>
          </a:xfrm>
          <a:prstGeom prst="rect">
            <a:avLst/>
          </a:prstGeom>
        </p:spPr>
        <p:txBody>
          <a:bodyPr wrap="square" lIns="0" tIns="0" rIns="0" bIns="0" rtlCol="0" anchor="t">
            <a:spAutoFit/>
          </a:bodyPr>
          <a:lstStyle/>
          <a:p>
            <a:pPr algn="ctr">
              <a:lnSpc>
                <a:spcPts val="3499"/>
              </a:lnSpc>
              <a:spcBef>
                <a:spcPct val="0"/>
              </a:spcBef>
            </a:pPr>
            <a:r>
              <a:rPr lang="en-US" sz="2499" b="1" dirty="0">
                <a:solidFill>
                  <a:srgbClr val="071436"/>
                </a:solidFill>
                <a:latin typeface="Poppins Bold"/>
                <a:ea typeface="Poppins Bold"/>
                <a:cs typeface="Poppins Bold"/>
                <a:sym typeface="Poppins Bold"/>
              </a:rPr>
              <a:t>They represent lives ,injuries, and economic losses</a:t>
            </a:r>
          </a:p>
        </p:txBody>
      </p:sp>
      <p:sp>
        <p:nvSpPr>
          <p:cNvPr id="22" name="TextBox 22"/>
          <p:cNvSpPr txBox="1"/>
          <p:nvPr/>
        </p:nvSpPr>
        <p:spPr>
          <a:xfrm>
            <a:off x="0" y="6566505"/>
            <a:ext cx="7010400" cy="439544"/>
          </a:xfrm>
          <a:prstGeom prst="rect">
            <a:avLst/>
          </a:prstGeom>
        </p:spPr>
        <p:txBody>
          <a:bodyPr wrap="square" lIns="0" tIns="0" rIns="0" bIns="0" rtlCol="0" anchor="t">
            <a:spAutoFit/>
          </a:bodyPr>
          <a:lstStyle/>
          <a:p>
            <a:pPr algn="ctr">
              <a:lnSpc>
                <a:spcPts val="3639"/>
              </a:lnSpc>
              <a:spcBef>
                <a:spcPct val="0"/>
              </a:spcBef>
            </a:pPr>
            <a:r>
              <a:rPr lang="en-US" sz="2599" b="1">
                <a:solidFill>
                  <a:srgbClr val="071436"/>
                </a:solidFill>
                <a:latin typeface="Poppins Bold"/>
                <a:ea typeface="Poppins Bold"/>
                <a:cs typeface="Poppins Bold"/>
                <a:sym typeface="Poppins Bold"/>
              </a:rPr>
              <a:t>Road accidents are not just numbers.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673061" y="368162"/>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grpSp>
        <p:nvGrpSpPr>
          <p:cNvPr id="7" name="Group 7"/>
          <p:cNvGrpSpPr/>
          <p:nvPr/>
        </p:nvGrpSpPr>
        <p:grpSpPr>
          <a:xfrm>
            <a:off x="-2763982" y="3768090"/>
            <a:ext cx="11907982" cy="4796891"/>
            <a:chOff x="0" y="0"/>
            <a:chExt cx="940878" cy="379014"/>
          </a:xfrm>
        </p:grpSpPr>
        <p:sp>
          <p:nvSpPr>
            <p:cNvPr id="8" name="Freeform 8"/>
            <p:cNvSpPr/>
            <p:nvPr/>
          </p:nvSpPr>
          <p:spPr>
            <a:xfrm>
              <a:off x="0" y="0"/>
              <a:ext cx="940878" cy="379014"/>
            </a:xfrm>
            <a:custGeom>
              <a:avLst/>
              <a:gdLst/>
              <a:ahLst/>
              <a:cxnLst/>
              <a:rect l="l" t="t" r="r" b="b"/>
              <a:pathLst>
                <a:path w="940878" h="379014">
                  <a:moveTo>
                    <a:pt x="0" y="0"/>
                  </a:moveTo>
                  <a:lnTo>
                    <a:pt x="940878" y="0"/>
                  </a:lnTo>
                  <a:lnTo>
                    <a:pt x="940878" y="379014"/>
                  </a:lnTo>
                  <a:lnTo>
                    <a:pt x="0" y="379014"/>
                  </a:lnTo>
                  <a:close/>
                </a:path>
              </a:pathLst>
            </a:custGeom>
            <a:blipFill>
              <a:blip r:embed="rId2"/>
              <a:stretch>
                <a:fillRect t="-32747" b="-32747"/>
              </a:stretch>
            </a:blipFill>
          </p:spPr>
          <p:txBody>
            <a:bodyPr/>
            <a:lstStyle/>
            <a:p>
              <a:endParaRPr lang="en-US"/>
            </a:p>
          </p:txBody>
        </p:sp>
      </p:grpSp>
      <p:sp>
        <p:nvSpPr>
          <p:cNvPr id="9" name="Freeform 9"/>
          <p:cNvSpPr/>
          <p:nvPr/>
        </p:nvSpPr>
        <p:spPr>
          <a:xfrm>
            <a:off x="12367359" y="0"/>
            <a:ext cx="6134863" cy="3910039"/>
          </a:xfrm>
          <a:custGeom>
            <a:avLst/>
            <a:gdLst/>
            <a:ahLst/>
            <a:cxnLst/>
            <a:rect l="l" t="t" r="r" b="b"/>
            <a:pathLst>
              <a:path w="6134863" h="3910039">
                <a:moveTo>
                  <a:pt x="0" y="0"/>
                </a:moveTo>
                <a:lnTo>
                  <a:pt x="6134863" y="0"/>
                </a:lnTo>
                <a:lnTo>
                  <a:pt x="6134863" y="3910039"/>
                </a:lnTo>
                <a:lnTo>
                  <a:pt x="0" y="3910039"/>
                </a:lnTo>
                <a:lnTo>
                  <a:pt x="0" y="0"/>
                </a:lnTo>
                <a:close/>
              </a:path>
            </a:pathLst>
          </a:custGeom>
          <a:blipFill>
            <a:blip r:embed="rId3"/>
            <a:stretch>
              <a:fillRect t="-2267" b="-2267"/>
            </a:stretch>
          </a:blipFill>
        </p:spPr>
        <p:txBody>
          <a:bodyPr/>
          <a:lstStyle/>
          <a:p>
            <a:endParaRPr lang="en-US"/>
          </a:p>
        </p:txBody>
      </p:sp>
      <p:sp>
        <p:nvSpPr>
          <p:cNvPr id="10" name="TextBox 10"/>
          <p:cNvSpPr txBox="1"/>
          <p:nvPr/>
        </p:nvSpPr>
        <p:spPr>
          <a:xfrm>
            <a:off x="998534" y="2427442"/>
            <a:ext cx="8701810" cy="1196340"/>
          </a:xfrm>
          <a:prstGeom prst="rect">
            <a:avLst/>
          </a:prstGeom>
        </p:spPr>
        <p:txBody>
          <a:bodyPr lIns="0" tIns="0" rIns="0" bIns="0" rtlCol="0" anchor="t">
            <a:spAutoFit/>
          </a:bodyPr>
          <a:lstStyle/>
          <a:p>
            <a:pPr algn="l">
              <a:lnSpc>
                <a:spcPts val="9179"/>
              </a:lnSpc>
            </a:pPr>
            <a:r>
              <a:rPr lang="en-US" sz="8499">
                <a:solidFill>
                  <a:srgbClr val="FFFFFF"/>
                </a:solidFill>
                <a:latin typeface="Anton"/>
                <a:ea typeface="Anton"/>
                <a:cs typeface="Anton"/>
                <a:sym typeface="Anton"/>
              </a:rPr>
              <a:t>WHY THIS PROJECT?</a:t>
            </a:r>
          </a:p>
        </p:txBody>
      </p:sp>
      <p:sp>
        <p:nvSpPr>
          <p:cNvPr id="11" name="TextBox 11"/>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02</a:t>
            </a:r>
          </a:p>
        </p:txBody>
      </p:sp>
      <p:sp>
        <p:nvSpPr>
          <p:cNvPr id="12" name="TextBox 12"/>
          <p:cNvSpPr txBox="1"/>
          <p:nvPr/>
        </p:nvSpPr>
        <p:spPr>
          <a:xfrm>
            <a:off x="9359431" y="3710940"/>
            <a:ext cx="6910325" cy="4575810"/>
          </a:xfrm>
          <a:prstGeom prst="rect">
            <a:avLst/>
          </a:prstGeom>
        </p:spPr>
        <p:txBody>
          <a:bodyPr lIns="0" tIns="0" rIns="0" bIns="0" rtlCol="0" anchor="t">
            <a:spAutoFit/>
          </a:bodyPr>
          <a:lstStyle/>
          <a:p>
            <a:pPr algn="l">
              <a:lnSpc>
                <a:spcPts val="3079"/>
              </a:lnSpc>
            </a:pPr>
            <a:r>
              <a:rPr lang="en-US" sz="2199" b="1">
                <a:solidFill>
                  <a:srgbClr val="FFFFFF"/>
                </a:solidFill>
                <a:latin typeface="Poppins Bold"/>
                <a:ea typeface="Poppins Bold"/>
                <a:cs typeface="Poppins Bold"/>
                <a:sym typeface="Poppins Bold"/>
              </a:rPr>
              <a:t>01 — A Serious Issue</a:t>
            </a:r>
          </a:p>
          <a:p>
            <a:pPr algn="l">
              <a:lnSpc>
                <a:spcPts val="3079"/>
              </a:lnSpc>
              <a:spcBef>
                <a:spcPct val="0"/>
              </a:spcBef>
            </a:pPr>
            <a:r>
              <a:rPr lang="en-US" sz="2199" b="1">
                <a:solidFill>
                  <a:srgbClr val="FFFFFF"/>
                </a:solidFill>
                <a:latin typeface="Poppins Bold"/>
                <a:ea typeface="Poppins Bold"/>
                <a:cs typeface="Poppins Bold"/>
                <a:sym typeface="Poppins Bold"/>
              </a:rPr>
              <a:t>Road accidents happen every day and cost many lives.</a:t>
            </a:r>
          </a:p>
          <a:p>
            <a:pPr algn="l">
              <a:lnSpc>
                <a:spcPts val="3079"/>
              </a:lnSpc>
              <a:spcBef>
                <a:spcPct val="0"/>
              </a:spcBef>
            </a:pPr>
            <a:endParaRPr lang="en-US" sz="2199" b="1">
              <a:solidFill>
                <a:srgbClr val="FFFFFF"/>
              </a:solidFill>
              <a:latin typeface="Poppins Bold"/>
              <a:ea typeface="Poppins Bold"/>
              <a:cs typeface="Poppins Bold"/>
              <a:sym typeface="Poppins Bold"/>
            </a:endParaRPr>
          </a:p>
          <a:p>
            <a:pPr algn="l">
              <a:lnSpc>
                <a:spcPts val="3079"/>
              </a:lnSpc>
              <a:spcBef>
                <a:spcPct val="0"/>
              </a:spcBef>
            </a:pPr>
            <a:r>
              <a:rPr lang="en-US" sz="2199" b="1">
                <a:solidFill>
                  <a:srgbClr val="FFFFFF"/>
                </a:solidFill>
                <a:latin typeface="Poppins Bold"/>
                <a:ea typeface="Poppins Bold"/>
                <a:cs typeface="Poppins Bold"/>
                <a:sym typeface="Poppins Bold"/>
              </a:rPr>
              <a:t>02 — Understanding the Trend</a:t>
            </a:r>
          </a:p>
          <a:p>
            <a:pPr algn="l">
              <a:lnSpc>
                <a:spcPts val="3079"/>
              </a:lnSpc>
              <a:spcBef>
                <a:spcPct val="0"/>
              </a:spcBef>
            </a:pPr>
            <a:r>
              <a:rPr lang="en-US" sz="2199" b="1">
                <a:solidFill>
                  <a:srgbClr val="FFFFFF"/>
                </a:solidFill>
                <a:latin typeface="Poppins Bold"/>
                <a:ea typeface="Poppins Bold"/>
                <a:cs typeface="Poppins Bold"/>
                <a:sym typeface="Poppins Bold"/>
              </a:rPr>
              <a:t>We wanted to know: Are accidents increasing or decreasing over time?</a:t>
            </a:r>
          </a:p>
          <a:p>
            <a:pPr algn="l">
              <a:lnSpc>
                <a:spcPts val="3079"/>
              </a:lnSpc>
              <a:spcBef>
                <a:spcPct val="0"/>
              </a:spcBef>
            </a:pPr>
            <a:endParaRPr lang="en-US" sz="2199" b="1">
              <a:solidFill>
                <a:srgbClr val="FFFFFF"/>
              </a:solidFill>
              <a:latin typeface="Poppins Bold"/>
              <a:ea typeface="Poppins Bold"/>
              <a:cs typeface="Poppins Bold"/>
              <a:sym typeface="Poppins Bold"/>
            </a:endParaRPr>
          </a:p>
          <a:p>
            <a:pPr algn="l">
              <a:lnSpc>
                <a:spcPts val="3079"/>
              </a:lnSpc>
              <a:spcBef>
                <a:spcPct val="0"/>
              </a:spcBef>
            </a:pPr>
            <a:r>
              <a:rPr lang="en-US" sz="2199" b="1">
                <a:solidFill>
                  <a:srgbClr val="FFFFFF"/>
                </a:solidFill>
                <a:latin typeface="Poppins Bold"/>
                <a:ea typeface="Poppins Bold"/>
                <a:cs typeface="Poppins Bold"/>
                <a:sym typeface="Poppins Bold"/>
              </a:rPr>
              <a:t>03 — Looking Ahead</a:t>
            </a:r>
          </a:p>
          <a:p>
            <a:pPr algn="l">
              <a:lnSpc>
                <a:spcPts val="2800"/>
              </a:lnSpc>
              <a:spcBef>
                <a:spcPct val="0"/>
              </a:spcBef>
            </a:pPr>
            <a:r>
              <a:rPr lang="en-US" sz="2000" b="1">
                <a:solidFill>
                  <a:srgbClr val="FFFFFF"/>
                </a:solidFill>
                <a:latin typeface="Poppins Bold"/>
                <a:ea typeface="Poppins Bold"/>
                <a:cs typeface="Poppins Bold"/>
                <a:sym typeface="Poppins Bold"/>
              </a:rPr>
              <a:t>Understanding these trends can help us think about how road safety can be improved in the future.</a:t>
            </a:r>
          </a:p>
          <a:p>
            <a:pPr algn="l">
              <a:lnSpc>
                <a:spcPts val="2800"/>
              </a:lnSpc>
              <a:spcBef>
                <a:spcPct val="0"/>
              </a:spcBef>
            </a:pPr>
            <a:endParaRPr lang="en-US" sz="2000" b="1">
              <a:solidFill>
                <a:srgbClr val="FFFFFF"/>
              </a:solidFill>
              <a:latin typeface="Poppins Bold"/>
              <a:ea typeface="Poppins Bold"/>
              <a:cs typeface="Poppins Bold"/>
              <a:sym typeface="Poppins Bold"/>
            </a:endParaRPr>
          </a:p>
        </p:txBody>
      </p:sp>
      <p:sp>
        <p:nvSpPr>
          <p:cNvPr id="13" name="TextBox 13"/>
          <p:cNvSpPr txBox="1"/>
          <p:nvPr/>
        </p:nvSpPr>
        <p:spPr>
          <a:xfrm>
            <a:off x="1647666" y="9045360"/>
            <a:ext cx="5994097" cy="720725"/>
          </a:xfrm>
          <a:prstGeom prst="rect">
            <a:avLst/>
          </a:prstGeom>
        </p:spPr>
        <p:txBody>
          <a:bodyPr lIns="0" tIns="0" rIns="0" bIns="0" rtlCol="0" anchor="t">
            <a:spAutoFit/>
          </a:bodyPr>
          <a:lstStyle/>
          <a:p>
            <a:pPr algn="ctr">
              <a:lnSpc>
                <a:spcPts val="2800"/>
              </a:lnSpc>
              <a:spcBef>
                <a:spcPct val="0"/>
              </a:spcBef>
            </a:pPr>
            <a:r>
              <a:rPr lang="en-US" sz="2000" b="1">
                <a:solidFill>
                  <a:srgbClr val="F7DDAA"/>
                </a:solidFill>
                <a:latin typeface="Poppins Bold"/>
                <a:ea typeface="Poppins Bold"/>
                <a:cs typeface="Poppins Bold"/>
                <a:sym typeface="Poppins Bold"/>
              </a:rPr>
              <a:t>Our goal is to understand the problem today, to help reduce it tomorrow.</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219558" y="268999"/>
            <a:ext cx="10869854" cy="1196340"/>
          </a:xfrm>
          <a:prstGeom prst="rect">
            <a:avLst/>
          </a:prstGeom>
        </p:spPr>
        <p:txBody>
          <a:bodyPr lIns="0" tIns="0" rIns="0" bIns="0" rtlCol="0" anchor="t">
            <a:spAutoFit/>
          </a:bodyPr>
          <a:lstStyle/>
          <a:p>
            <a:pPr algn="ctr">
              <a:lnSpc>
                <a:spcPts val="9179"/>
              </a:lnSpc>
            </a:pPr>
            <a:r>
              <a:rPr lang="en-US" sz="8499">
                <a:solidFill>
                  <a:srgbClr val="FFFFFF"/>
                </a:solidFill>
                <a:latin typeface="Anton"/>
                <a:ea typeface="Anton"/>
                <a:cs typeface="Anton"/>
                <a:sym typeface="Anton"/>
              </a:rPr>
              <a:t>THE DATA CHALLENGE</a:t>
            </a:r>
          </a:p>
        </p:txBody>
      </p:sp>
      <p:grpSp>
        <p:nvGrpSpPr>
          <p:cNvPr id="3" name="Group 3"/>
          <p:cNvGrpSpPr/>
          <p:nvPr/>
        </p:nvGrpSpPr>
        <p:grpSpPr>
          <a:xfrm>
            <a:off x="253873" y="145289"/>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8" name="AutoShape 8"/>
          <p:cNvSpPr/>
          <p:nvPr/>
        </p:nvSpPr>
        <p:spPr>
          <a:xfrm>
            <a:off x="1349858" y="2195732"/>
            <a:ext cx="7032702" cy="0"/>
          </a:xfrm>
          <a:prstGeom prst="line">
            <a:avLst/>
          </a:prstGeom>
          <a:ln w="38100" cap="flat">
            <a:solidFill>
              <a:srgbClr val="071436"/>
            </a:solidFill>
            <a:prstDash val="sysDash"/>
            <a:headEnd type="none" w="sm" len="sm"/>
            <a:tailEnd type="none" w="sm" len="sm"/>
          </a:ln>
        </p:spPr>
        <p:txBody>
          <a:bodyPr/>
          <a:lstStyle/>
          <a:p>
            <a:endParaRPr lang="en-US"/>
          </a:p>
        </p:txBody>
      </p:sp>
      <p:sp>
        <p:nvSpPr>
          <p:cNvPr id="9" name="Freeform 9"/>
          <p:cNvSpPr/>
          <p:nvPr/>
        </p:nvSpPr>
        <p:spPr>
          <a:xfrm>
            <a:off x="13135884" y="-339329"/>
            <a:ext cx="5515310" cy="7293795"/>
          </a:xfrm>
          <a:custGeom>
            <a:avLst/>
            <a:gdLst/>
            <a:ahLst/>
            <a:cxnLst/>
            <a:rect l="l" t="t" r="r" b="b"/>
            <a:pathLst>
              <a:path w="5515310" h="7293795">
                <a:moveTo>
                  <a:pt x="0" y="0"/>
                </a:moveTo>
                <a:lnTo>
                  <a:pt x="5515310" y="0"/>
                </a:lnTo>
                <a:lnTo>
                  <a:pt x="5515310" y="7293795"/>
                </a:lnTo>
                <a:lnTo>
                  <a:pt x="0" y="7293795"/>
                </a:lnTo>
                <a:lnTo>
                  <a:pt x="0" y="0"/>
                </a:lnTo>
                <a:close/>
              </a:path>
            </a:pathLst>
          </a:custGeom>
          <a:blipFill>
            <a:blip r:embed="rId2"/>
            <a:stretch>
              <a:fillRect b="-906"/>
            </a:stretch>
          </a:blipFill>
        </p:spPr>
        <p:txBody>
          <a:bodyPr/>
          <a:lstStyle/>
          <a:p>
            <a:endParaRPr lang="en-US"/>
          </a:p>
        </p:txBody>
      </p:sp>
      <p:sp>
        <p:nvSpPr>
          <p:cNvPr id="10" name="Freeform 10"/>
          <p:cNvSpPr/>
          <p:nvPr/>
        </p:nvSpPr>
        <p:spPr>
          <a:xfrm>
            <a:off x="8536757" y="2195732"/>
            <a:ext cx="4990918" cy="7359879"/>
          </a:xfrm>
          <a:custGeom>
            <a:avLst/>
            <a:gdLst/>
            <a:ahLst/>
            <a:cxnLst/>
            <a:rect l="l" t="t" r="r" b="b"/>
            <a:pathLst>
              <a:path w="4990918" h="7359879">
                <a:moveTo>
                  <a:pt x="0" y="0"/>
                </a:moveTo>
                <a:lnTo>
                  <a:pt x="4990918" y="0"/>
                </a:lnTo>
                <a:lnTo>
                  <a:pt x="4990918" y="7359879"/>
                </a:lnTo>
                <a:lnTo>
                  <a:pt x="0" y="7359879"/>
                </a:lnTo>
                <a:lnTo>
                  <a:pt x="0" y="0"/>
                </a:lnTo>
                <a:close/>
              </a:path>
            </a:pathLst>
          </a:custGeom>
          <a:blipFill>
            <a:blip r:embed="rId3"/>
            <a:stretch>
              <a:fillRect/>
            </a:stretch>
          </a:blipFill>
        </p:spPr>
        <p:txBody>
          <a:bodyPr/>
          <a:lstStyle/>
          <a:p>
            <a:endParaRPr lang="en-US"/>
          </a:p>
        </p:txBody>
      </p:sp>
      <p:sp>
        <p:nvSpPr>
          <p:cNvPr id="11" name="Freeform 11"/>
          <p:cNvSpPr/>
          <p:nvPr/>
        </p:nvSpPr>
        <p:spPr>
          <a:xfrm>
            <a:off x="3049047" y="3403764"/>
            <a:ext cx="5487710" cy="7101404"/>
          </a:xfrm>
          <a:custGeom>
            <a:avLst/>
            <a:gdLst/>
            <a:ahLst/>
            <a:cxnLst/>
            <a:rect l="l" t="t" r="r" b="b"/>
            <a:pathLst>
              <a:path w="5487710" h="7101404">
                <a:moveTo>
                  <a:pt x="0" y="0"/>
                </a:moveTo>
                <a:lnTo>
                  <a:pt x="5487710" y="0"/>
                </a:lnTo>
                <a:lnTo>
                  <a:pt x="5487710" y="7101404"/>
                </a:lnTo>
                <a:lnTo>
                  <a:pt x="0" y="7101404"/>
                </a:lnTo>
                <a:lnTo>
                  <a:pt x="0" y="0"/>
                </a:lnTo>
                <a:close/>
              </a:path>
            </a:pathLst>
          </a:custGeom>
          <a:blipFill>
            <a:blip r:embed="rId4"/>
            <a:stretch>
              <a:fillRect t="-3639"/>
            </a:stretch>
          </a:blipFill>
        </p:spPr>
        <p:txBody>
          <a:bodyPr/>
          <a:lstStyle/>
          <a:p>
            <a:endParaRPr lang="en-US"/>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03</a:t>
            </a:r>
          </a:p>
        </p:txBody>
      </p:sp>
      <p:sp>
        <p:nvSpPr>
          <p:cNvPr id="13" name="TextBox 13"/>
          <p:cNvSpPr txBox="1"/>
          <p:nvPr/>
        </p:nvSpPr>
        <p:spPr>
          <a:xfrm>
            <a:off x="1028700" y="1556921"/>
            <a:ext cx="7305633" cy="457835"/>
          </a:xfrm>
          <a:prstGeom prst="rect">
            <a:avLst/>
          </a:prstGeom>
        </p:spPr>
        <p:txBody>
          <a:bodyPr lIns="0" tIns="0" rIns="0" bIns="0" rtlCol="0" anchor="t">
            <a:spAutoFit/>
          </a:bodyPr>
          <a:lstStyle/>
          <a:p>
            <a:pPr algn="ctr">
              <a:lnSpc>
                <a:spcPts val="3639"/>
              </a:lnSpc>
              <a:spcBef>
                <a:spcPct val="0"/>
              </a:spcBef>
            </a:pPr>
            <a:r>
              <a:rPr lang="en-US" sz="2599" b="1">
                <a:solidFill>
                  <a:srgbClr val="071436"/>
                </a:solidFill>
                <a:latin typeface="Poppins Bold"/>
                <a:ea typeface="Poppins Bold"/>
                <a:cs typeface="Poppins Bold"/>
                <a:sym typeface="Poppins Bold"/>
              </a:rPr>
              <a:t>NO READY -TO-USE DATASET</a:t>
            </a:r>
          </a:p>
        </p:txBody>
      </p:sp>
      <p:sp>
        <p:nvSpPr>
          <p:cNvPr id="14" name="TextBox 14"/>
          <p:cNvSpPr txBox="1"/>
          <p:nvPr/>
        </p:nvSpPr>
        <p:spPr>
          <a:xfrm>
            <a:off x="2218217" y="2554088"/>
            <a:ext cx="5279049" cy="368300"/>
          </a:xfrm>
          <a:prstGeom prst="rect">
            <a:avLst/>
          </a:prstGeom>
        </p:spPr>
        <p:txBody>
          <a:bodyPr lIns="0" tIns="0" rIns="0" bIns="0" rtlCol="0" anchor="t">
            <a:spAutoFit/>
          </a:bodyPr>
          <a:lstStyle/>
          <a:p>
            <a:pPr algn="l">
              <a:lnSpc>
                <a:spcPts val="2800"/>
              </a:lnSpc>
              <a:spcBef>
                <a:spcPct val="0"/>
              </a:spcBef>
            </a:pPr>
            <a:r>
              <a:rPr lang="en-US" sz="2000">
                <a:solidFill>
                  <a:srgbClr val="071436"/>
                </a:solidFill>
                <a:latin typeface="Poppins"/>
                <a:ea typeface="Poppins"/>
                <a:cs typeface="Poppins"/>
                <a:sym typeface="Poppins"/>
              </a:rPr>
              <a:t>2021   ⟶ 2022  ⟶ 2023 ⟶ 2024 ⟶ 2025</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219558" y="268999"/>
            <a:ext cx="10869854" cy="1196340"/>
          </a:xfrm>
          <a:prstGeom prst="rect">
            <a:avLst/>
          </a:prstGeom>
        </p:spPr>
        <p:txBody>
          <a:bodyPr lIns="0" tIns="0" rIns="0" bIns="0" rtlCol="0" anchor="t">
            <a:spAutoFit/>
          </a:bodyPr>
          <a:lstStyle/>
          <a:p>
            <a:pPr algn="ctr">
              <a:lnSpc>
                <a:spcPts val="9179"/>
              </a:lnSpc>
            </a:pPr>
            <a:r>
              <a:rPr lang="en-US" sz="8499">
                <a:solidFill>
                  <a:srgbClr val="FFFFFF"/>
                </a:solidFill>
                <a:latin typeface="Anton"/>
                <a:ea typeface="Anton"/>
                <a:cs typeface="Anton"/>
                <a:sym typeface="Anton"/>
              </a:rPr>
              <a:t>THE DATA CHALLENGE</a:t>
            </a:r>
          </a:p>
        </p:txBody>
      </p:sp>
      <p:grpSp>
        <p:nvGrpSpPr>
          <p:cNvPr id="3" name="Group 3"/>
          <p:cNvGrpSpPr/>
          <p:nvPr/>
        </p:nvGrpSpPr>
        <p:grpSpPr>
          <a:xfrm>
            <a:off x="253873" y="145289"/>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8" name="AutoShape 8"/>
          <p:cNvSpPr/>
          <p:nvPr/>
        </p:nvSpPr>
        <p:spPr>
          <a:xfrm>
            <a:off x="1407474" y="2076434"/>
            <a:ext cx="7032702" cy="0"/>
          </a:xfrm>
          <a:prstGeom prst="line">
            <a:avLst/>
          </a:prstGeom>
          <a:ln w="38100" cap="flat">
            <a:solidFill>
              <a:srgbClr val="071436"/>
            </a:solidFill>
            <a:prstDash val="sysDash"/>
            <a:headEnd type="none" w="sm" len="sm"/>
            <a:tailEnd type="none" w="sm" len="sm"/>
          </a:ln>
        </p:spPr>
        <p:txBody>
          <a:bodyPr/>
          <a:lstStyle/>
          <a:p>
            <a:endParaRPr lang="en-US"/>
          </a:p>
        </p:txBody>
      </p:sp>
      <p:grpSp>
        <p:nvGrpSpPr>
          <p:cNvPr id="16" name="Group 15">
            <a:extLst>
              <a:ext uri="{FF2B5EF4-FFF2-40B4-BE49-F238E27FC236}">
                <a16:creationId xmlns:a16="http://schemas.microsoft.com/office/drawing/2014/main" id="{D41B16CF-F309-C76A-AA09-62E042F38005}"/>
              </a:ext>
            </a:extLst>
          </p:cNvPr>
          <p:cNvGrpSpPr/>
          <p:nvPr/>
        </p:nvGrpSpPr>
        <p:grpSpPr>
          <a:xfrm>
            <a:off x="253872" y="2835576"/>
            <a:ext cx="17805527" cy="5471861"/>
            <a:chOff x="253873" y="2835576"/>
            <a:chExt cx="16596594" cy="5471861"/>
          </a:xfrm>
        </p:grpSpPr>
        <p:sp>
          <p:nvSpPr>
            <p:cNvPr id="9" name="Freeform 9"/>
            <p:cNvSpPr/>
            <p:nvPr/>
          </p:nvSpPr>
          <p:spPr>
            <a:xfrm>
              <a:off x="12300155" y="2842779"/>
              <a:ext cx="4550312" cy="5436390"/>
            </a:xfrm>
            <a:custGeom>
              <a:avLst/>
              <a:gdLst/>
              <a:ahLst/>
              <a:cxnLst/>
              <a:rect l="l" t="t" r="r" b="b"/>
              <a:pathLst>
                <a:path w="4550312" h="5203603">
                  <a:moveTo>
                    <a:pt x="0" y="0"/>
                  </a:moveTo>
                  <a:lnTo>
                    <a:pt x="4550312" y="0"/>
                  </a:lnTo>
                  <a:lnTo>
                    <a:pt x="4550312" y="5203603"/>
                  </a:lnTo>
                  <a:lnTo>
                    <a:pt x="0" y="5203603"/>
                  </a:lnTo>
                  <a:lnTo>
                    <a:pt x="0" y="0"/>
                  </a:lnTo>
                  <a:close/>
                </a:path>
              </a:pathLst>
            </a:custGeom>
            <a:blipFill>
              <a:blip r:embed="rId2"/>
              <a:stretch>
                <a:fillRect/>
              </a:stretch>
            </a:blipFill>
          </p:spPr>
          <p:txBody>
            <a:bodyPr/>
            <a:lstStyle/>
            <a:p>
              <a:endParaRPr lang="en-US"/>
            </a:p>
          </p:txBody>
        </p:sp>
        <p:sp>
          <p:nvSpPr>
            <p:cNvPr id="10" name="Freeform 10"/>
            <p:cNvSpPr/>
            <p:nvPr/>
          </p:nvSpPr>
          <p:spPr>
            <a:xfrm>
              <a:off x="253873" y="2835576"/>
              <a:ext cx="5461127" cy="5471861"/>
            </a:xfrm>
            <a:custGeom>
              <a:avLst/>
              <a:gdLst/>
              <a:ahLst/>
              <a:cxnLst/>
              <a:rect l="l" t="t" r="r" b="b"/>
              <a:pathLst>
                <a:path w="7922183" h="5471861">
                  <a:moveTo>
                    <a:pt x="0" y="0"/>
                  </a:moveTo>
                  <a:lnTo>
                    <a:pt x="7922182" y="0"/>
                  </a:lnTo>
                  <a:lnTo>
                    <a:pt x="7922182" y="5471861"/>
                  </a:lnTo>
                  <a:lnTo>
                    <a:pt x="0" y="5471861"/>
                  </a:lnTo>
                  <a:lnTo>
                    <a:pt x="0" y="0"/>
                  </a:lnTo>
                  <a:close/>
                </a:path>
              </a:pathLst>
            </a:custGeom>
            <a:blipFill>
              <a:blip r:embed="rId3"/>
              <a:stretch>
                <a:fillRect t="-4453" b="-3580"/>
              </a:stretch>
            </a:blipFill>
          </p:spPr>
          <p:txBody>
            <a:bodyPr/>
            <a:lstStyle/>
            <a:p>
              <a:endParaRPr lang="en-US"/>
            </a:p>
          </p:txBody>
        </p:sp>
        <p:grpSp>
          <p:nvGrpSpPr>
            <p:cNvPr id="11" name="Group 11"/>
            <p:cNvGrpSpPr/>
            <p:nvPr/>
          </p:nvGrpSpPr>
          <p:grpSpPr>
            <a:xfrm>
              <a:off x="5867400" y="2842779"/>
              <a:ext cx="6248400" cy="5436390"/>
              <a:chOff x="0" y="0"/>
              <a:chExt cx="1836619" cy="1008772"/>
            </a:xfrm>
          </p:grpSpPr>
          <p:sp>
            <p:nvSpPr>
              <p:cNvPr id="12" name="Freeform 12"/>
              <p:cNvSpPr/>
              <p:nvPr/>
            </p:nvSpPr>
            <p:spPr>
              <a:xfrm>
                <a:off x="0" y="0"/>
                <a:ext cx="1836619" cy="1008772"/>
              </a:xfrm>
              <a:custGeom>
                <a:avLst/>
                <a:gdLst/>
                <a:ahLst/>
                <a:cxnLst/>
                <a:rect l="l" t="t" r="r" b="b"/>
                <a:pathLst>
                  <a:path w="1836619" h="1008772">
                    <a:moveTo>
                      <a:pt x="0" y="0"/>
                    </a:moveTo>
                    <a:lnTo>
                      <a:pt x="1836619" y="0"/>
                    </a:lnTo>
                    <a:lnTo>
                      <a:pt x="1836619" y="1008772"/>
                    </a:lnTo>
                    <a:lnTo>
                      <a:pt x="0" y="1008772"/>
                    </a:lnTo>
                    <a:close/>
                  </a:path>
                </a:pathLst>
              </a:custGeom>
              <a:blipFill>
                <a:blip r:embed="rId4"/>
                <a:stretch>
                  <a:fillRect l="-986" r="-2368"/>
                </a:stretch>
              </a:blipFill>
            </p:spPr>
            <p:txBody>
              <a:bodyPr/>
              <a:lstStyle/>
              <a:p>
                <a:endParaRPr lang="en-US" dirty="0"/>
              </a:p>
            </p:txBody>
          </p:sp>
        </p:grpSp>
      </p:grpSp>
      <p:sp>
        <p:nvSpPr>
          <p:cNvPr id="13" name="TextBox 13"/>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04</a:t>
            </a:r>
          </a:p>
        </p:txBody>
      </p:sp>
      <p:sp>
        <p:nvSpPr>
          <p:cNvPr id="14" name="TextBox 14"/>
          <p:cNvSpPr txBox="1"/>
          <p:nvPr/>
        </p:nvSpPr>
        <p:spPr>
          <a:xfrm>
            <a:off x="1028700" y="1398663"/>
            <a:ext cx="7305633" cy="457835"/>
          </a:xfrm>
          <a:prstGeom prst="rect">
            <a:avLst/>
          </a:prstGeom>
        </p:spPr>
        <p:txBody>
          <a:bodyPr lIns="0" tIns="0" rIns="0" bIns="0" rtlCol="0" anchor="t">
            <a:spAutoFit/>
          </a:bodyPr>
          <a:lstStyle/>
          <a:p>
            <a:pPr algn="ctr">
              <a:lnSpc>
                <a:spcPts val="3639"/>
              </a:lnSpc>
              <a:spcBef>
                <a:spcPct val="0"/>
              </a:spcBef>
            </a:pPr>
            <a:r>
              <a:rPr lang="en-US" sz="2599" b="1">
                <a:solidFill>
                  <a:srgbClr val="071436"/>
                </a:solidFill>
                <a:latin typeface="Poppins Bold"/>
                <a:ea typeface="Poppins Bold"/>
                <a:cs typeface="Poppins Bold"/>
                <a:sym typeface="Poppins Bold"/>
              </a:rPr>
              <a:t>NO READY -TO-USE DATASET</a:t>
            </a:r>
          </a:p>
        </p:txBody>
      </p:sp>
      <p:sp>
        <p:nvSpPr>
          <p:cNvPr id="15" name="TextBox 15"/>
          <p:cNvSpPr txBox="1"/>
          <p:nvPr/>
        </p:nvSpPr>
        <p:spPr>
          <a:xfrm>
            <a:off x="2284301" y="2229695"/>
            <a:ext cx="5279049" cy="368300"/>
          </a:xfrm>
          <a:prstGeom prst="rect">
            <a:avLst/>
          </a:prstGeom>
        </p:spPr>
        <p:txBody>
          <a:bodyPr lIns="0" tIns="0" rIns="0" bIns="0" rtlCol="0" anchor="t">
            <a:spAutoFit/>
          </a:bodyPr>
          <a:lstStyle/>
          <a:p>
            <a:pPr algn="l">
              <a:lnSpc>
                <a:spcPts val="2800"/>
              </a:lnSpc>
              <a:spcBef>
                <a:spcPct val="0"/>
              </a:spcBef>
            </a:pPr>
            <a:r>
              <a:rPr lang="en-US" sz="2000">
                <a:solidFill>
                  <a:srgbClr val="071436"/>
                </a:solidFill>
                <a:latin typeface="Poppins"/>
                <a:ea typeface="Poppins"/>
                <a:cs typeface="Poppins"/>
                <a:sym typeface="Poppins"/>
              </a:rPr>
              <a:t>2021   ⟶ 2022  ⟶ 2023 ⟶ 2024 ⟶ 2025</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0" y="66675"/>
            <a:ext cx="10869854" cy="769624"/>
          </a:xfrm>
          <a:prstGeom prst="rect">
            <a:avLst/>
          </a:prstGeom>
        </p:spPr>
        <p:txBody>
          <a:bodyPr lIns="0" tIns="0" rIns="0" bIns="0" rtlCol="0" anchor="t">
            <a:spAutoFit/>
          </a:bodyPr>
          <a:lstStyle/>
          <a:p>
            <a:pPr algn="ctr">
              <a:lnSpc>
                <a:spcPts val="5940"/>
              </a:lnSpc>
            </a:pPr>
            <a:r>
              <a:rPr lang="en-US" sz="5500">
                <a:solidFill>
                  <a:srgbClr val="FFFFFF"/>
                </a:solidFill>
                <a:latin typeface="Anton"/>
                <a:ea typeface="Anton"/>
                <a:cs typeface="Anton"/>
                <a:sym typeface="Anton"/>
              </a:rPr>
              <a:t>FROM PDF REPORTS TO EXCEL TABLES</a:t>
            </a:r>
          </a:p>
        </p:txBody>
      </p:sp>
      <p:grpSp>
        <p:nvGrpSpPr>
          <p:cNvPr id="3" name="Group 3"/>
          <p:cNvGrpSpPr/>
          <p:nvPr/>
        </p:nvGrpSpPr>
        <p:grpSpPr>
          <a:xfrm>
            <a:off x="30999" y="0"/>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grpSp>
        <p:nvGrpSpPr>
          <p:cNvPr id="8" name="Group 8"/>
          <p:cNvGrpSpPr/>
          <p:nvPr/>
        </p:nvGrpSpPr>
        <p:grpSpPr>
          <a:xfrm>
            <a:off x="1522279" y="4028892"/>
            <a:ext cx="13308558" cy="6258108"/>
            <a:chOff x="0" y="0"/>
            <a:chExt cx="2738693" cy="1287821"/>
          </a:xfrm>
        </p:grpSpPr>
        <p:sp>
          <p:nvSpPr>
            <p:cNvPr id="9" name="Freeform 9"/>
            <p:cNvSpPr/>
            <p:nvPr/>
          </p:nvSpPr>
          <p:spPr>
            <a:xfrm>
              <a:off x="0" y="0"/>
              <a:ext cx="2738693" cy="1287821"/>
            </a:xfrm>
            <a:custGeom>
              <a:avLst/>
              <a:gdLst/>
              <a:ahLst/>
              <a:cxnLst/>
              <a:rect l="l" t="t" r="r" b="b"/>
              <a:pathLst>
                <a:path w="2738693" h="1287821">
                  <a:moveTo>
                    <a:pt x="0" y="0"/>
                  </a:moveTo>
                  <a:lnTo>
                    <a:pt x="2738693" y="0"/>
                  </a:lnTo>
                  <a:lnTo>
                    <a:pt x="2738693" y="1287821"/>
                  </a:lnTo>
                  <a:lnTo>
                    <a:pt x="0" y="1287821"/>
                  </a:lnTo>
                  <a:close/>
                </a:path>
              </a:pathLst>
            </a:custGeom>
            <a:blipFill>
              <a:blip r:embed="rId2"/>
              <a:stretch>
                <a:fillRect t="-2585" b="-2585"/>
              </a:stretch>
            </a:blipFill>
          </p:spPr>
          <p:txBody>
            <a:bodyPr/>
            <a:lstStyle/>
            <a:p>
              <a:endParaRPr lang="en-US"/>
            </a:p>
          </p:txBody>
        </p:sp>
      </p:grpSp>
      <p:sp>
        <p:nvSpPr>
          <p:cNvPr id="10" name="Freeform 10"/>
          <p:cNvSpPr/>
          <p:nvPr/>
        </p:nvSpPr>
        <p:spPr>
          <a:xfrm>
            <a:off x="16121338" y="5391792"/>
            <a:ext cx="876160" cy="1001326"/>
          </a:xfrm>
          <a:custGeom>
            <a:avLst/>
            <a:gdLst/>
            <a:ahLst/>
            <a:cxnLst/>
            <a:rect l="l" t="t" r="r" b="b"/>
            <a:pathLst>
              <a:path w="876160" h="1001326">
                <a:moveTo>
                  <a:pt x="0" y="0"/>
                </a:moveTo>
                <a:lnTo>
                  <a:pt x="876161" y="0"/>
                </a:lnTo>
                <a:lnTo>
                  <a:pt x="876161" y="1001326"/>
                </a:lnTo>
                <a:lnTo>
                  <a:pt x="0" y="10013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16121338" y="6837290"/>
            <a:ext cx="876160" cy="1001326"/>
          </a:xfrm>
          <a:custGeom>
            <a:avLst/>
            <a:gdLst/>
            <a:ahLst/>
            <a:cxnLst/>
            <a:rect l="l" t="t" r="r" b="b"/>
            <a:pathLst>
              <a:path w="876160" h="1001326">
                <a:moveTo>
                  <a:pt x="0" y="0"/>
                </a:moveTo>
                <a:lnTo>
                  <a:pt x="876161" y="0"/>
                </a:lnTo>
                <a:lnTo>
                  <a:pt x="876161" y="1001326"/>
                </a:lnTo>
                <a:lnTo>
                  <a:pt x="0" y="10013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05</a:t>
            </a:r>
          </a:p>
        </p:txBody>
      </p:sp>
      <p:sp>
        <p:nvSpPr>
          <p:cNvPr id="13" name="TextBox 13"/>
          <p:cNvSpPr txBox="1"/>
          <p:nvPr/>
        </p:nvSpPr>
        <p:spPr>
          <a:xfrm>
            <a:off x="14830837" y="4859522"/>
            <a:ext cx="3457163" cy="3869810"/>
          </a:xfrm>
          <a:prstGeom prst="rect">
            <a:avLst/>
          </a:prstGeom>
        </p:spPr>
        <p:txBody>
          <a:bodyPr lIns="0" tIns="0" rIns="0" bIns="0" rtlCol="0" anchor="t">
            <a:spAutoFit/>
          </a:bodyPr>
          <a:lstStyle/>
          <a:p>
            <a:pPr algn="ctr">
              <a:lnSpc>
                <a:spcPts val="3835"/>
              </a:lnSpc>
            </a:pPr>
            <a:r>
              <a:rPr lang="en-US" sz="2739" b="1">
                <a:solidFill>
                  <a:srgbClr val="071436"/>
                </a:solidFill>
                <a:latin typeface="Poppins Bold"/>
                <a:ea typeface="Poppins Bold"/>
                <a:cs typeface="Poppins Bold"/>
                <a:sym typeface="Poppins Bold"/>
              </a:rPr>
              <a:t>PDF REPORTS  </a:t>
            </a:r>
          </a:p>
          <a:p>
            <a:pPr algn="ctr">
              <a:lnSpc>
                <a:spcPts val="3835"/>
              </a:lnSpc>
            </a:pPr>
            <a:endParaRPr lang="en-US" sz="2739" b="1">
              <a:solidFill>
                <a:srgbClr val="071436"/>
              </a:solidFill>
              <a:latin typeface="Poppins Bold"/>
              <a:ea typeface="Poppins Bold"/>
              <a:cs typeface="Poppins Bold"/>
              <a:sym typeface="Poppins Bold"/>
            </a:endParaRPr>
          </a:p>
          <a:p>
            <a:pPr algn="ctr">
              <a:lnSpc>
                <a:spcPts val="3835"/>
              </a:lnSpc>
            </a:pPr>
            <a:endParaRPr lang="en-US" sz="2739" b="1">
              <a:solidFill>
                <a:srgbClr val="071436"/>
              </a:solidFill>
              <a:latin typeface="Poppins Bold"/>
              <a:ea typeface="Poppins Bold"/>
              <a:cs typeface="Poppins Bold"/>
              <a:sym typeface="Poppins Bold"/>
            </a:endParaRPr>
          </a:p>
          <a:p>
            <a:pPr algn="ctr">
              <a:lnSpc>
                <a:spcPts val="3835"/>
              </a:lnSpc>
            </a:pPr>
            <a:r>
              <a:rPr lang="en-US" sz="2739" b="1">
                <a:solidFill>
                  <a:srgbClr val="071436"/>
                </a:solidFill>
                <a:latin typeface="Poppins Bold"/>
                <a:ea typeface="Poppins Bold"/>
                <a:cs typeface="Poppins Bold"/>
                <a:sym typeface="Poppins Bold"/>
              </a:rPr>
              <a:t> EXCEL TABLES </a:t>
            </a:r>
          </a:p>
          <a:p>
            <a:pPr algn="ctr">
              <a:lnSpc>
                <a:spcPts val="3835"/>
              </a:lnSpc>
            </a:pPr>
            <a:r>
              <a:rPr lang="en-US" sz="2739" b="1">
                <a:solidFill>
                  <a:srgbClr val="071436"/>
                </a:solidFill>
                <a:latin typeface="Poppins Bold"/>
                <a:ea typeface="Poppins Bold"/>
                <a:cs typeface="Poppins Bold"/>
                <a:sym typeface="Poppins Bold"/>
              </a:rPr>
              <a:t> </a:t>
            </a:r>
          </a:p>
          <a:p>
            <a:pPr algn="ctr">
              <a:lnSpc>
                <a:spcPts val="3835"/>
              </a:lnSpc>
            </a:pPr>
            <a:r>
              <a:rPr lang="en-US" sz="2739" b="1">
                <a:solidFill>
                  <a:srgbClr val="071436"/>
                </a:solidFill>
                <a:latin typeface="Poppins Bold"/>
                <a:ea typeface="Poppins Bold"/>
                <a:cs typeface="Poppins Bold"/>
                <a:sym typeface="Poppins Bold"/>
              </a:rPr>
              <a:t> </a:t>
            </a:r>
          </a:p>
          <a:p>
            <a:pPr algn="ctr">
              <a:lnSpc>
                <a:spcPts val="3835"/>
              </a:lnSpc>
              <a:spcBef>
                <a:spcPct val="0"/>
              </a:spcBef>
            </a:pPr>
            <a:r>
              <a:rPr lang="en-US" sz="2739" b="1">
                <a:solidFill>
                  <a:srgbClr val="071436"/>
                </a:solidFill>
                <a:latin typeface="Poppins Bold"/>
                <a:ea typeface="Poppins Bold"/>
                <a:cs typeface="Poppins Bold"/>
                <a:sym typeface="Poppins Bold"/>
              </a:rPr>
              <a:t>VERIFICATION &amp; ORGANIZATION</a:t>
            </a:r>
          </a:p>
        </p:txBody>
      </p:sp>
      <p:sp>
        <p:nvSpPr>
          <p:cNvPr id="14" name="TextBox 14"/>
          <p:cNvSpPr txBox="1"/>
          <p:nvPr/>
        </p:nvSpPr>
        <p:spPr>
          <a:xfrm>
            <a:off x="288777" y="981075"/>
            <a:ext cx="17999223" cy="2649828"/>
          </a:xfrm>
          <a:prstGeom prst="rect">
            <a:avLst/>
          </a:prstGeom>
        </p:spPr>
        <p:txBody>
          <a:bodyPr wrap="square" lIns="0" tIns="0" rIns="0" bIns="0" rtlCol="0" anchor="t">
            <a:spAutoFit/>
          </a:bodyPr>
          <a:lstStyle/>
          <a:p>
            <a:pPr algn="justLow">
              <a:lnSpc>
                <a:spcPts val="2567"/>
              </a:lnSpc>
              <a:spcBef>
                <a:spcPct val="0"/>
              </a:spcBef>
            </a:pPr>
            <a:r>
              <a:rPr lang="en-US" sz="1833" b="1" dirty="0">
                <a:solidFill>
                  <a:srgbClr val="071436"/>
                </a:solidFill>
                <a:latin typeface="Poppins Bold"/>
                <a:ea typeface="Poppins Bold"/>
                <a:cs typeface="Poppins Bold"/>
                <a:sym typeface="Poppins Bold"/>
              </a:rPr>
              <a:t>1. Verify the Data</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checked the extracted numbers against the original PDF reports.</a:t>
            </a:r>
          </a:p>
          <a:p>
            <a:pPr algn="justLow">
              <a:lnSpc>
                <a:spcPts val="2567"/>
              </a:lnSpc>
              <a:spcBef>
                <a:spcPct val="0"/>
              </a:spcBef>
            </a:pPr>
            <a:endParaRPr lang="en-US" sz="1833" b="1" dirty="0">
              <a:solidFill>
                <a:srgbClr val="071436"/>
              </a:solidFill>
              <a:latin typeface="Poppins Bold"/>
              <a:ea typeface="Poppins Bold"/>
              <a:cs typeface="Poppins Bold"/>
              <a:sym typeface="Poppins Bold"/>
            </a:endParaRPr>
          </a:p>
          <a:p>
            <a:pPr algn="justLow">
              <a:lnSpc>
                <a:spcPts val="2567"/>
              </a:lnSpc>
              <a:spcBef>
                <a:spcPct val="0"/>
              </a:spcBef>
            </a:pPr>
            <a:r>
              <a:rPr lang="en-US" sz="1833" b="1" dirty="0">
                <a:solidFill>
                  <a:srgbClr val="071436"/>
                </a:solidFill>
                <a:latin typeface="Poppins Bold"/>
                <a:ea typeface="Poppins Bold"/>
                <a:cs typeface="Poppins Bold"/>
                <a:sym typeface="Poppins Bold"/>
              </a:rPr>
              <a:t>2. Rename &amp; Organize Sheets</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renamed the sheets to make the data clear and easy to identify.</a:t>
            </a:r>
          </a:p>
          <a:p>
            <a:pPr algn="justLow">
              <a:lnSpc>
                <a:spcPts val="2567"/>
              </a:lnSpc>
              <a:spcBef>
                <a:spcPct val="0"/>
              </a:spcBef>
            </a:pPr>
            <a:endParaRPr lang="en-US" sz="1833" b="1" dirty="0">
              <a:solidFill>
                <a:srgbClr val="071436"/>
              </a:solidFill>
              <a:latin typeface="Poppins Bold"/>
              <a:ea typeface="Poppins Bold"/>
              <a:cs typeface="Poppins Bold"/>
              <a:sym typeface="Poppins Bold"/>
            </a:endParaRPr>
          </a:p>
          <a:p>
            <a:pPr algn="justLow">
              <a:lnSpc>
                <a:spcPts val="2567"/>
              </a:lnSpc>
              <a:spcBef>
                <a:spcPct val="0"/>
              </a:spcBef>
            </a:pPr>
            <a:r>
              <a:rPr lang="en-US" sz="1833" b="1" dirty="0">
                <a:solidFill>
                  <a:srgbClr val="071436"/>
                </a:solidFill>
                <a:latin typeface="Poppins Bold"/>
                <a:ea typeface="Poppins Bold"/>
                <a:cs typeface="Poppins Bold"/>
                <a:sym typeface="Poppins Bold"/>
              </a:rPr>
              <a:t>3. Prepare for Analysis</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organized the tables before moving to the next data-processing stage.</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0" y="66675"/>
            <a:ext cx="10869854" cy="769624"/>
          </a:xfrm>
          <a:prstGeom prst="rect">
            <a:avLst/>
          </a:prstGeom>
        </p:spPr>
        <p:txBody>
          <a:bodyPr lIns="0" tIns="0" rIns="0" bIns="0" rtlCol="0" anchor="t">
            <a:spAutoFit/>
          </a:bodyPr>
          <a:lstStyle/>
          <a:p>
            <a:pPr algn="ctr">
              <a:lnSpc>
                <a:spcPts val="5940"/>
              </a:lnSpc>
            </a:pPr>
            <a:r>
              <a:rPr lang="en-US" sz="5500">
                <a:solidFill>
                  <a:srgbClr val="FFFFFF"/>
                </a:solidFill>
                <a:latin typeface="Anton"/>
                <a:ea typeface="Anton"/>
                <a:cs typeface="Anton"/>
                <a:sym typeface="Anton"/>
              </a:rPr>
              <a:t>FROM PDF REPORTS TO EXCEL TABLES</a:t>
            </a:r>
          </a:p>
        </p:txBody>
      </p:sp>
      <p:grpSp>
        <p:nvGrpSpPr>
          <p:cNvPr id="3" name="Group 3"/>
          <p:cNvGrpSpPr/>
          <p:nvPr/>
        </p:nvGrpSpPr>
        <p:grpSpPr>
          <a:xfrm>
            <a:off x="30999" y="0"/>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8" name="Freeform 8"/>
          <p:cNvSpPr/>
          <p:nvPr/>
        </p:nvSpPr>
        <p:spPr>
          <a:xfrm>
            <a:off x="9198029" y="3663780"/>
            <a:ext cx="8581638" cy="5471861"/>
          </a:xfrm>
          <a:custGeom>
            <a:avLst/>
            <a:gdLst/>
            <a:ahLst/>
            <a:cxnLst/>
            <a:rect l="l" t="t" r="r" b="b"/>
            <a:pathLst>
              <a:path w="8870415" h="6190613">
                <a:moveTo>
                  <a:pt x="0" y="0"/>
                </a:moveTo>
                <a:lnTo>
                  <a:pt x="8870415" y="0"/>
                </a:lnTo>
                <a:lnTo>
                  <a:pt x="8870415" y="6190613"/>
                </a:lnTo>
                <a:lnTo>
                  <a:pt x="0" y="6190613"/>
                </a:lnTo>
                <a:lnTo>
                  <a:pt x="0" y="0"/>
                </a:lnTo>
                <a:close/>
              </a:path>
            </a:pathLst>
          </a:custGeom>
          <a:blipFill>
            <a:blip r:embed="rId2"/>
            <a:stretch>
              <a:fillRect l="-360" t="-4655" r="-37212"/>
            </a:stretch>
          </a:blipFill>
        </p:spPr>
        <p:txBody>
          <a:bodyPr/>
          <a:lstStyle/>
          <a:p>
            <a:endParaRPr lang="en-US" dirty="0"/>
          </a:p>
        </p:txBody>
      </p:sp>
      <p:sp>
        <p:nvSpPr>
          <p:cNvPr id="9" name="Freeform 9"/>
          <p:cNvSpPr/>
          <p:nvPr/>
        </p:nvSpPr>
        <p:spPr>
          <a:xfrm>
            <a:off x="288777" y="3663780"/>
            <a:ext cx="8581639" cy="5471861"/>
          </a:xfrm>
          <a:custGeom>
            <a:avLst/>
            <a:gdLst/>
            <a:ahLst/>
            <a:cxnLst/>
            <a:rect l="l" t="t" r="r" b="b"/>
            <a:pathLst>
              <a:path w="9128808" h="5471861">
                <a:moveTo>
                  <a:pt x="0" y="0"/>
                </a:moveTo>
                <a:lnTo>
                  <a:pt x="9128808" y="0"/>
                </a:lnTo>
                <a:lnTo>
                  <a:pt x="9128808" y="5471861"/>
                </a:lnTo>
                <a:lnTo>
                  <a:pt x="0" y="5471861"/>
                </a:lnTo>
                <a:lnTo>
                  <a:pt x="0" y="0"/>
                </a:lnTo>
                <a:close/>
              </a:path>
            </a:pathLst>
          </a:custGeom>
          <a:blipFill>
            <a:blip r:embed="rId3"/>
            <a:stretch>
              <a:fillRect l="-26907" t="-2353" b="-2353"/>
            </a:stretch>
          </a:blipFill>
        </p:spPr>
        <p:txBody>
          <a:bodyPr/>
          <a:lstStyle/>
          <a:p>
            <a:endParaRPr lang="en-US"/>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06</a:t>
            </a:r>
          </a:p>
        </p:txBody>
      </p:sp>
      <p:sp>
        <p:nvSpPr>
          <p:cNvPr id="11" name="TextBox 11"/>
          <p:cNvSpPr txBox="1"/>
          <p:nvPr/>
        </p:nvSpPr>
        <p:spPr>
          <a:xfrm>
            <a:off x="1326206" y="9191625"/>
            <a:ext cx="7734270" cy="915035"/>
          </a:xfrm>
          <a:prstGeom prst="rect">
            <a:avLst/>
          </a:prstGeom>
        </p:spPr>
        <p:txBody>
          <a:bodyPr lIns="0" tIns="0" rIns="0" bIns="0" rtlCol="0" anchor="t">
            <a:spAutoFit/>
          </a:bodyPr>
          <a:lstStyle/>
          <a:p>
            <a:pPr algn="ctr">
              <a:lnSpc>
                <a:spcPts val="3639"/>
              </a:lnSpc>
              <a:spcBef>
                <a:spcPct val="0"/>
              </a:spcBef>
            </a:pPr>
            <a:r>
              <a:rPr lang="en-US" sz="2599" b="1">
                <a:solidFill>
                  <a:srgbClr val="071436"/>
                </a:solidFill>
                <a:latin typeface="Poppins Bold"/>
                <a:ea typeface="Poppins Bold"/>
                <a:cs typeface="Poppins Bold"/>
                <a:sym typeface="Poppins Bold"/>
              </a:rPr>
              <a:t>PDF REPORTS → EXCEL TABLES → VERIFICATION &amp; ORGANIZATION</a:t>
            </a:r>
          </a:p>
        </p:txBody>
      </p:sp>
      <p:sp>
        <p:nvSpPr>
          <p:cNvPr id="12" name="TextBox 12"/>
          <p:cNvSpPr txBox="1"/>
          <p:nvPr/>
        </p:nvSpPr>
        <p:spPr>
          <a:xfrm>
            <a:off x="1" y="836299"/>
            <a:ext cx="18288000" cy="2649828"/>
          </a:xfrm>
          <a:prstGeom prst="rect">
            <a:avLst/>
          </a:prstGeom>
        </p:spPr>
        <p:txBody>
          <a:bodyPr wrap="square" lIns="0" tIns="0" rIns="0" bIns="0" rtlCol="0" anchor="t">
            <a:spAutoFit/>
          </a:bodyPr>
          <a:lstStyle/>
          <a:p>
            <a:pPr algn="justLow">
              <a:lnSpc>
                <a:spcPts val="2567"/>
              </a:lnSpc>
              <a:spcBef>
                <a:spcPct val="0"/>
              </a:spcBef>
            </a:pPr>
            <a:r>
              <a:rPr lang="en-US" sz="1833" b="1" dirty="0">
                <a:solidFill>
                  <a:srgbClr val="071436"/>
                </a:solidFill>
                <a:latin typeface="Poppins Bold"/>
                <a:ea typeface="Poppins Bold"/>
                <a:cs typeface="Poppins Bold"/>
                <a:sym typeface="Poppins Bold"/>
              </a:rPr>
              <a:t>1. Verify the Data</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checked the extracted numbers against the original PDF reports.</a:t>
            </a:r>
          </a:p>
          <a:p>
            <a:pPr algn="justLow">
              <a:lnSpc>
                <a:spcPts val="2567"/>
              </a:lnSpc>
              <a:spcBef>
                <a:spcPct val="0"/>
              </a:spcBef>
            </a:pPr>
            <a:endParaRPr lang="en-US" sz="1833" b="1" dirty="0">
              <a:solidFill>
                <a:srgbClr val="071436"/>
              </a:solidFill>
              <a:latin typeface="Poppins Bold"/>
              <a:ea typeface="Poppins Bold"/>
              <a:cs typeface="Poppins Bold"/>
              <a:sym typeface="Poppins Bold"/>
            </a:endParaRPr>
          </a:p>
          <a:p>
            <a:pPr algn="justLow">
              <a:lnSpc>
                <a:spcPts val="2567"/>
              </a:lnSpc>
              <a:spcBef>
                <a:spcPct val="0"/>
              </a:spcBef>
            </a:pPr>
            <a:r>
              <a:rPr lang="en-US" sz="1833" b="1" dirty="0">
                <a:solidFill>
                  <a:srgbClr val="071436"/>
                </a:solidFill>
                <a:latin typeface="Poppins Bold"/>
                <a:ea typeface="Poppins Bold"/>
                <a:cs typeface="Poppins Bold"/>
                <a:sym typeface="Poppins Bold"/>
              </a:rPr>
              <a:t>2. Rename &amp; Organize Sheets</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renamed the sheets to make the data clear and easy to identify.</a:t>
            </a:r>
          </a:p>
          <a:p>
            <a:pPr algn="justLow">
              <a:lnSpc>
                <a:spcPts val="2567"/>
              </a:lnSpc>
              <a:spcBef>
                <a:spcPct val="0"/>
              </a:spcBef>
            </a:pPr>
            <a:endParaRPr lang="en-US" sz="1833" b="1" dirty="0">
              <a:solidFill>
                <a:srgbClr val="071436"/>
              </a:solidFill>
              <a:latin typeface="Poppins Bold"/>
              <a:ea typeface="Poppins Bold"/>
              <a:cs typeface="Poppins Bold"/>
              <a:sym typeface="Poppins Bold"/>
            </a:endParaRPr>
          </a:p>
          <a:p>
            <a:pPr algn="justLow">
              <a:lnSpc>
                <a:spcPts val="2567"/>
              </a:lnSpc>
              <a:spcBef>
                <a:spcPct val="0"/>
              </a:spcBef>
            </a:pPr>
            <a:r>
              <a:rPr lang="en-US" sz="1833" b="1" dirty="0">
                <a:solidFill>
                  <a:srgbClr val="071436"/>
                </a:solidFill>
                <a:latin typeface="Poppins Bold"/>
                <a:ea typeface="Poppins Bold"/>
                <a:cs typeface="Poppins Bold"/>
                <a:sym typeface="Poppins Bold"/>
              </a:rPr>
              <a:t>3. Prepare for Analysis</a:t>
            </a:r>
          </a:p>
          <a:p>
            <a:pPr algn="justLow">
              <a:lnSpc>
                <a:spcPts val="2567"/>
              </a:lnSpc>
              <a:spcBef>
                <a:spcPct val="0"/>
              </a:spcBef>
            </a:pPr>
            <a:r>
              <a:rPr lang="en-US" sz="1833" b="1" dirty="0">
                <a:solidFill>
                  <a:srgbClr val="071436"/>
                </a:solidFill>
                <a:latin typeface="Poppins Bold"/>
                <a:ea typeface="Poppins Bold"/>
                <a:cs typeface="Poppins Bold"/>
                <a:sym typeface="Poppins Bold"/>
              </a:rPr>
              <a:t>We organized the tables before moving to the next data-processing stage.</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0" y="66675"/>
            <a:ext cx="10869854" cy="769624"/>
          </a:xfrm>
          <a:prstGeom prst="rect">
            <a:avLst/>
          </a:prstGeom>
        </p:spPr>
        <p:txBody>
          <a:bodyPr lIns="0" tIns="0" rIns="0" bIns="0" rtlCol="0" anchor="t">
            <a:spAutoFit/>
          </a:bodyPr>
          <a:lstStyle/>
          <a:p>
            <a:pPr algn="ctr">
              <a:lnSpc>
                <a:spcPts val="5940"/>
              </a:lnSpc>
            </a:pPr>
            <a:r>
              <a:rPr lang="en-US" sz="5500">
                <a:solidFill>
                  <a:srgbClr val="FFFFFF"/>
                </a:solidFill>
                <a:latin typeface="Anton"/>
                <a:ea typeface="Anton"/>
                <a:cs typeface="Anton"/>
                <a:sym typeface="Anton"/>
              </a:rPr>
              <a:t>DATA MERGING &amp;TABLE SELECTION</a:t>
            </a:r>
          </a:p>
        </p:txBody>
      </p:sp>
      <p:grpSp>
        <p:nvGrpSpPr>
          <p:cNvPr id="3" name="Group 3"/>
          <p:cNvGrpSpPr/>
          <p:nvPr/>
        </p:nvGrpSpPr>
        <p:grpSpPr>
          <a:xfrm>
            <a:off x="30999" y="0"/>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grpSp>
        <p:nvGrpSpPr>
          <p:cNvPr id="8" name="Group 8"/>
          <p:cNvGrpSpPr/>
          <p:nvPr/>
        </p:nvGrpSpPr>
        <p:grpSpPr>
          <a:xfrm>
            <a:off x="9363033" y="2013842"/>
            <a:ext cx="8086767" cy="6711058"/>
            <a:chOff x="0" y="0"/>
            <a:chExt cx="1836618" cy="1461638"/>
          </a:xfrm>
        </p:grpSpPr>
        <p:sp>
          <p:nvSpPr>
            <p:cNvPr id="9" name="Freeform 9"/>
            <p:cNvSpPr/>
            <p:nvPr/>
          </p:nvSpPr>
          <p:spPr>
            <a:xfrm>
              <a:off x="0" y="0"/>
              <a:ext cx="1836619" cy="1461638"/>
            </a:xfrm>
            <a:custGeom>
              <a:avLst/>
              <a:gdLst/>
              <a:ahLst/>
              <a:cxnLst/>
              <a:rect l="l" t="t" r="r" b="b"/>
              <a:pathLst>
                <a:path w="1836619" h="1461638">
                  <a:moveTo>
                    <a:pt x="0" y="0"/>
                  </a:moveTo>
                  <a:lnTo>
                    <a:pt x="1836619" y="0"/>
                  </a:lnTo>
                  <a:lnTo>
                    <a:pt x="1836619" y="1461638"/>
                  </a:lnTo>
                  <a:lnTo>
                    <a:pt x="0" y="1461638"/>
                  </a:lnTo>
                  <a:close/>
                </a:path>
              </a:pathLst>
            </a:custGeom>
            <a:blipFill>
              <a:blip r:embed="rId2"/>
              <a:stretch>
                <a:fillRect t="-1518" b="-1518"/>
              </a:stretch>
            </a:blipFill>
          </p:spPr>
          <p:txBody>
            <a:bodyPr/>
            <a:lstStyle/>
            <a:p>
              <a:endParaRPr lang="en-US"/>
            </a:p>
          </p:txBody>
        </p:sp>
      </p:grpSp>
      <p:sp>
        <p:nvSpPr>
          <p:cNvPr id="10" name="Freeform 10"/>
          <p:cNvSpPr/>
          <p:nvPr/>
        </p:nvSpPr>
        <p:spPr>
          <a:xfrm>
            <a:off x="1228031" y="2013842"/>
            <a:ext cx="7496869" cy="6711058"/>
          </a:xfrm>
          <a:custGeom>
            <a:avLst/>
            <a:gdLst/>
            <a:ahLst/>
            <a:cxnLst/>
            <a:rect l="l" t="t" r="r" b="b"/>
            <a:pathLst>
              <a:path w="7496869" h="6929314">
                <a:moveTo>
                  <a:pt x="0" y="0"/>
                </a:moveTo>
                <a:lnTo>
                  <a:pt x="7496869" y="0"/>
                </a:lnTo>
                <a:lnTo>
                  <a:pt x="7496869" y="6929314"/>
                </a:lnTo>
                <a:lnTo>
                  <a:pt x="0" y="6929314"/>
                </a:lnTo>
                <a:lnTo>
                  <a:pt x="0" y="0"/>
                </a:lnTo>
                <a:close/>
              </a:path>
            </a:pathLst>
          </a:custGeom>
          <a:blipFill>
            <a:blip r:embed="rId3"/>
            <a:stretch>
              <a:fillRect r="-6520"/>
            </a:stretch>
          </a:blipFill>
        </p:spPr>
        <p:txBody>
          <a:bodyPr/>
          <a:lstStyle/>
          <a:p>
            <a:endParaRPr lang="en-US"/>
          </a:p>
        </p:txBody>
      </p:sp>
      <p:sp>
        <p:nvSpPr>
          <p:cNvPr id="11" name="TextBox 11"/>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07</a:t>
            </a:r>
          </a:p>
        </p:txBody>
      </p:sp>
      <p:sp>
        <p:nvSpPr>
          <p:cNvPr id="12" name="TextBox 12"/>
          <p:cNvSpPr txBox="1"/>
          <p:nvPr/>
        </p:nvSpPr>
        <p:spPr>
          <a:xfrm>
            <a:off x="-838200" y="897750"/>
            <a:ext cx="19126200" cy="500265"/>
          </a:xfrm>
          <a:prstGeom prst="rect">
            <a:avLst/>
          </a:prstGeom>
        </p:spPr>
        <p:txBody>
          <a:bodyPr wrap="square" lIns="0" tIns="0" rIns="0" bIns="0" rtlCol="0" anchor="t">
            <a:spAutoFit/>
          </a:bodyPr>
          <a:lstStyle/>
          <a:p>
            <a:pPr lvl="1" algn="ctr">
              <a:lnSpc>
                <a:spcPts val="4181"/>
              </a:lnSpc>
              <a:spcBef>
                <a:spcPct val="0"/>
              </a:spcBef>
            </a:pPr>
            <a:r>
              <a:rPr lang="en-US" sz="2800" b="1" i="1" dirty="0">
                <a:solidFill>
                  <a:srgbClr val="071436"/>
                </a:solidFill>
                <a:latin typeface="Poppins Bold Italics"/>
                <a:ea typeface="Poppins Bold Italics"/>
                <a:cs typeface="Poppins Bold Italics"/>
                <a:sym typeface="Poppins Bold Italics"/>
              </a:rPr>
              <a:t> ⟶ We selected the relevant tables and merged the data from different reports into a unified dataset.</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sp>
        <p:nvSpPr>
          <p:cNvPr id="2" name="TextBox 2"/>
          <p:cNvSpPr txBox="1"/>
          <p:nvPr/>
        </p:nvSpPr>
        <p:spPr>
          <a:xfrm>
            <a:off x="3709073" y="191072"/>
            <a:ext cx="10869854" cy="769624"/>
          </a:xfrm>
          <a:prstGeom prst="rect">
            <a:avLst/>
          </a:prstGeom>
        </p:spPr>
        <p:txBody>
          <a:bodyPr lIns="0" tIns="0" rIns="0" bIns="0" rtlCol="0" anchor="t">
            <a:spAutoFit/>
          </a:bodyPr>
          <a:lstStyle/>
          <a:p>
            <a:pPr algn="ctr">
              <a:lnSpc>
                <a:spcPts val="5940"/>
              </a:lnSpc>
            </a:pPr>
            <a:r>
              <a:rPr lang="en-US" sz="5500" dirty="0">
                <a:solidFill>
                  <a:srgbClr val="FFFFFF"/>
                </a:solidFill>
                <a:latin typeface="Anton"/>
                <a:ea typeface="Anton"/>
                <a:cs typeface="Anton"/>
                <a:sym typeface="Anton"/>
              </a:rPr>
              <a:t>DATA MERGING &amp;TABLE SELECTION</a:t>
            </a:r>
          </a:p>
        </p:txBody>
      </p:sp>
      <p:grpSp>
        <p:nvGrpSpPr>
          <p:cNvPr id="3" name="Group 3"/>
          <p:cNvGrpSpPr/>
          <p:nvPr/>
        </p:nvGrpSpPr>
        <p:grpSpPr>
          <a:xfrm>
            <a:off x="30999" y="0"/>
            <a:ext cx="445747" cy="4457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396365" y="8956675"/>
            <a:ext cx="1746223" cy="1452297"/>
            <a:chOff x="0" y="0"/>
            <a:chExt cx="1650219" cy="1372452"/>
          </a:xfrm>
        </p:grpSpPr>
        <p:sp>
          <p:nvSpPr>
            <p:cNvPr id="7" name="Freeform 7"/>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8" name="Freeform 8"/>
          <p:cNvSpPr/>
          <p:nvPr/>
        </p:nvSpPr>
        <p:spPr>
          <a:xfrm>
            <a:off x="9144000" y="2073360"/>
            <a:ext cx="8769340" cy="6883316"/>
          </a:xfrm>
          <a:custGeom>
            <a:avLst/>
            <a:gdLst/>
            <a:ahLst/>
            <a:cxnLst/>
            <a:rect l="l" t="t" r="r" b="b"/>
            <a:pathLst>
              <a:path w="8769340" h="7859601">
                <a:moveTo>
                  <a:pt x="0" y="0"/>
                </a:moveTo>
                <a:lnTo>
                  <a:pt x="8769340" y="0"/>
                </a:lnTo>
                <a:lnTo>
                  <a:pt x="8769340" y="7859601"/>
                </a:lnTo>
                <a:lnTo>
                  <a:pt x="0" y="7859601"/>
                </a:lnTo>
                <a:lnTo>
                  <a:pt x="0" y="0"/>
                </a:lnTo>
                <a:close/>
              </a:path>
            </a:pathLst>
          </a:custGeom>
          <a:blipFill>
            <a:blip r:embed="rId2"/>
            <a:stretch>
              <a:fillRect t="-17951" r="-38699" b="-17951"/>
            </a:stretch>
          </a:blipFill>
        </p:spPr>
        <p:txBody>
          <a:bodyPr/>
          <a:lstStyle/>
          <a:p>
            <a:endParaRPr lang="en-US"/>
          </a:p>
        </p:txBody>
      </p:sp>
      <p:sp>
        <p:nvSpPr>
          <p:cNvPr id="9" name="Freeform 9"/>
          <p:cNvSpPr/>
          <p:nvPr/>
        </p:nvSpPr>
        <p:spPr>
          <a:xfrm>
            <a:off x="1349857" y="2073359"/>
            <a:ext cx="7742688" cy="6883316"/>
          </a:xfrm>
          <a:custGeom>
            <a:avLst/>
            <a:gdLst/>
            <a:ahLst/>
            <a:cxnLst/>
            <a:rect l="l" t="t" r="r" b="b"/>
            <a:pathLst>
              <a:path w="7742688" h="6883316">
                <a:moveTo>
                  <a:pt x="0" y="0"/>
                </a:moveTo>
                <a:lnTo>
                  <a:pt x="7742687" y="0"/>
                </a:lnTo>
                <a:lnTo>
                  <a:pt x="7742687" y="6883316"/>
                </a:lnTo>
                <a:lnTo>
                  <a:pt x="0" y="6883316"/>
                </a:lnTo>
                <a:lnTo>
                  <a:pt x="0" y="0"/>
                </a:lnTo>
                <a:close/>
              </a:path>
            </a:pathLst>
          </a:custGeom>
          <a:blipFill>
            <a:blip r:embed="rId3"/>
            <a:stretch>
              <a:fillRect t="-12941" r="-48314" b="-12941"/>
            </a:stretch>
          </a:blipFill>
        </p:spPr>
        <p:txBody>
          <a:bodyPr/>
          <a:lstStyle/>
          <a:p>
            <a:endParaRPr lang="en-US"/>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08</a:t>
            </a:r>
          </a:p>
        </p:txBody>
      </p:sp>
      <p:sp>
        <p:nvSpPr>
          <p:cNvPr id="11" name="TextBox 11"/>
          <p:cNvSpPr txBox="1"/>
          <p:nvPr/>
        </p:nvSpPr>
        <p:spPr>
          <a:xfrm>
            <a:off x="0" y="1307843"/>
            <a:ext cx="18288000" cy="486480"/>
          </a:xfrm>
          <a:prstGeom prst="rect">
            <a:avLst/>
          </a:prstGeom>
        </p:spPr>
        <p:txBody>
          <a:bodyPr wrap="square" lIns="0" tIns="0" rIns="0" bIns="0" rtlCol="0" anchor="t">
            <a:spAutoFit/>
          </a:bodyPr>
          <a:lstStyle/>
          <a:p>
            <a:pPr>
              <a:lnSpc>
                <a:spcPts val="4181"/>
              </a:lnSpc>
              <a:spcBef>
                <a:spcPct val="0"/>
              </a:spcBef>
            </a:pPr>
            <a:r>
              <a:rPr lang="en-US" sz="2400" b="1" i="1" dirty="0">
                <a:solidFill>
                  <a:srgbClr val="071436"/>
                </a:solidFill>
                <a:latin typeface="Poppins Bold Italics"/>
                <a:ea typeface="Poppins Bold Italics"/>
                <a:cs typeface="Poppins Bold Italics"/>
                <a:sym typeface="Poppins Bold Italics"/>
              </a:rPr>
              <a:t> ⟶ We selected the relevant tables and merged the data from different reports into a unified dataset.</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grpSp>
        <p:nvGrpSpPr>
          <p:cNvPr id="7" name="Group 7"/>
          <p:cNvGrpSpPr/>
          <p:nvPr/>
        </p:nvGrpSpPr>
        <p:grpSpPr>
          <a:xfrm>
            <a:off x="476746" y="3193099"/>
            <a:ext cx="8404243" cy="5009160"/>
            <a:chOff x="0" y="0"/>
            <a:chExt cx="1364787" cy="812800"/>
          </a:xfrm>
        </p:grpSpPr>
        <p:sp>
          <p:nvSpPr>
            <p:cNvPr id="8" name="Freeform 8"/>
            <p:cNvSpPr/>
            <p:nvPr/>
          </p:nvSpPr>
          <p:spPr>
            <a:xfrm>
              <a:off x="0" y="0"/>
              <a:ext cx="1364787" cy="812800"/>
            </a:xfrm>
            <a:custGeom>
              <a:avLst/>
              <a:gdLst/>
              <a:ahLst/>
              <a:cxnLst/>
              <a:rect l="l" t="t" r="r" b="b"/>
              <a:pathLst>
                <a:path w="1364787" h="812800">
                  <a:moveTo>
                    <a:pt x="0" y="0"/>
                  </a:moveTo>
                  <a:lnTo>
                    <a:pt x="1364787" y="0"/>
                  </a:lnTo>
                  <a:lnTo>
                    <a:pt x="1364787" y="812800"/>
                  </a:lnTo>
                  <a:lnTo>
                    <a:pt x="0" y="812800"/>
                  </a:lnTo>
                  <a:close/>
                </a:path>
              </a:pathLst>
            </a:custGeom>
            <a:blipFill>
              <a:blip r:embed="rId2"/>
              <a:stretch>
                <a:fillRect l="-17121" r="-17121"/>
              </a:stretch>
            </a:blipFill>
          </p:spPr>
          <p:txBody>
            <a:bodyPr/>
            <a:lstStyle/>
            <a:p>
              <a:endParaRPr lang="en-US"/>
            </a:p>
          </p:txBody>
        </p:sp>
      </p:grpSp>
      <p:grpSp>
        <p:nvGrpSpPr>
          <p:cNvPr id="9" name="Group 9"/>
          <p:cNvGrpSpPr/>
          <p:nvPr/>
        </p:nvGrpSpPr>
        <p:grpSpPr>
          <a:xfrm>
            <a:off x="8952106" y="3193099"/>
            <a:ext cx="8920601" cy="5009160"/>
            <a:chOff x="0" y="0"/>
            <a:chExt cx="1358160" cy="812800"/>
          </a:xfrm>
        </p:grpSpPr>
        <p:sp>
          <p:nvSpPr>
            <p:cNvPr id="10" name="Freeform 10"/>
            <p:cNvSpPr/>
            <p:nvPr/>
          </p:nvSpPr>
          <p:spPr>
            <a:xfrm>
              <a:off x="0" y="0"/>
              <a:ext cx="1358160" cy="812800"/>
            </a:xfrm>
            <a:custGeom>
              <a:avLst/>
              <a:gdLst/>
              <a:ahLst/>
              <a:cxnLst/>
              <a:rect l="l" t="t" r="r" b="b"/>
              <a:pathLst>
                <a:path w="1358160" h="812800">
                  <a:moveTo>
                    <a:pt x="0" y="0"/>
                  </a:moveTo>
                  <a:lnTo>
                    <a:pt x="1358160" y="0"/>
                  </a:lnTo>
                  <a:lnTo>
                    <a:pt x="1358160" y="812800"/>
                  </a:lnTo>
                  <a:lnTo>
                    <a:pt x="0" y="812800"/>
                  </a:lnTo>
                  <a:close/>
                </a:path>
              </a:pathLst>
            </a:custGeom>
            <a:blipFill>
              <a:blip r:embed="rId3"/>
              <a:stretch>
                <a:fillRect l="-8360" r="-8360"/>
              </a:stretch>
            </a:blipFill>
          </p:spPr>
          <p:txBody>
            <a:bodyPr/>
            <a:lstStyle/>
            <a:p>
              <a:endParaRPr lang="en-US"/>
            </a:p>
          </p:txBody>
        </p:sp>
      </p:grpSp>
      <p:sp>
        <p:nvSpPr>
          <p:cNvPr id="11" name="TextBox 11"/>
          <p:cNvSpPr txBox="1"/>
          <p:nvPr/>
        </p:nvSpPr>
        <p:spPr>
          <a:xfrm>
            <a:off x="3025957" y="456284"/>
            <a:ext cx="11812969" cy="679673"/>
          </a:xfrm>
          <a:prstGeom prst="rect">
            <a:avLst/>
          </a:prstGeom>
        </p:spPr>
        <p:txBody>
          <a:bodyPr wrap="square" lIns="0" tIns="0" rIns="0" bIns="0" rtlCol="0" anchor="t">
            <a:spAutoFit/>
          </a:bodyPr>
          <a:lstStyle/>
          <a:p>
            <a:pPr algn="ctr">
              <a:lnSpc>
                <a:spcPts val="5292"/>
              </a:lnSpc>
            </a:pPr>
            <a:r>
              <a:rPr lang="en-US" sz="4900" dirty="0">
                <a:solidFill>
                  <a:srgbClr val="FFFFFF"/>
                </a:solidFill>
                <a:latin typeface="Anton"/>
                <a:ea typeface="Anton"/>
                <a:cs typeface="Anton"/>
                <a:sym typeface="Anton"/>
              </a:rPr>
              <a:t>PYTHON: DATA CLEANING &amp; VISUALIZATION</a:t>
            </a:r>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09</a:t>
            </a:r>
          </a:p>
        </p:txBody>
      </p:sp>
      <p:sp>
        <p:nvSpPr>
          <p:cNvPr id="13" name="TextBox 13"/>
          <p:cNvSpPr txBox="1"/>
          <p:nvPr/>
        </p:nvSpPr>
        <p:spPr>
          <a:xfrm>
            <a:off x="341715" y="1382567"/>
            <a:ext cx="17946285" cy="423834"/>
          </a:xfrm>
          <a:prstGeom prst="rect">
            <a:avLst/>
          </a:prstGeom>
        </p:spPr>
        <p:txBody>
          <a:bodyPr wrap="square" lIns="0" tIns="0" rIns="0" bIns="0" rtlCol="0" anchor="t">
            <a:spAutoFit/>
          </a:bodyPr>
          <a:lstStyle/>
          <a:p>
            <a:pPr>
              <a:lnSpc>
                <a:spcPts val="3548"/>
              </a:lnSpc>
              <a:spcBef>
                <a:spcPct val="0"/>
              </a:spcBef>
            </a:pPr>
            <a:r>
              <a:rPr lang="en-US" sz="2534" b="1" dirty="0">
                <a:solidFill>
                  <a:srgbClr val="FFFFFF"/>
                </a:solidFill>
                <a:latin typeface="Poppins Bold"/>
                <a:ea typeface="Poppins Bold"/>
                <a:cs typeface="Poppins Bold"/>
                <a:sym typeface="Poppins Bold"/>
              </a:rPr>
              <a:t>⟶ Cleaned, standardized, and visualized the merged dataset to identify patterns and trends.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grpSp>
        <p:nvGrpSpPr>
          <p:cNvPr id="7" name="Group 7"/>
          <p:cNvGrpSpPr/>
          <p:nvPr/>
        </p:nvGrpSpPr>
        <p:grpSpPr>
          <a:xfrm>
            <a:off x="253463" y="2581225"/>
            <a:ext cx="8128537" cy="5077112"/>
            <a:chOff x="0" y="0"/>
            <a:chExt cx="507899" cy="300827"/>
          </a:xfrm>
        </p:grpSpPr>
        <p:sp>
          <p:nvSpPr>
            <p:cNvPr id="8" name="Freeform 8"/>
            <p:cNvSpPr/>
            <p:nvPr/>
          </p:nvSpPr>
          <p:spPr>
            <a:xfrm>
              <a:off x="0" y="0"/>
              <a:ext cx="507899" cy="300827"/>
            </a:xfrm>
            <a:custGeom>
              <a:avLst/>
              <a:gdLst/>
              <a:ahLst/>
              <a:cxnLst/>
              <a:rect l="l" t="t" r="r" b="b"/>
              <a:pathLst>
                <a:path w="507899" h="300827">
                  <a:moveTo>
                    <a:pt x="0" y="0"/>
                  </a:moveTo>
                  <a:lnTo>
                    <a:pt x="507899" y="0"/>
                  </a:lnTo>
                  <a:lnTo>
                    <a:pt x="507899" y="300827"/>
                  </a:lnTo>
                  <a:lnTo>
                    <a:pt x="0" y="300827"/>
                  </a:lnTo>
                  <a:close/>
                </a:path>
              </a:pathLst>
            </a:custGeom>
            <a:blipFill>
              <a:blip r:embed="rId2"/>
              <a:stretch>
                <a:fillRect l="-11378" r="-11378"/>
              </a:stretch>
            </a:blipFill>
          </p:spPr>
          <p:txBody>
            <a:bodyPr/>
            <a:lstStyle/>
            <a:p>
              <a:endParaRPr lang="en-US"/>
            </a:p>
          </p:txBody>
        </p:sp>
      </p:grpSp>
      <p:grpSp>
        <p:nvGrpSpPr>
          <p:cNvPr id="9" name="Group 9"/>
          <p:cNvGrpSpPr/>
          <p:nvPr/>
        </p:nvGrpSpPr>
        <p:grpSpPr>
          <a:xfrm>
            <a:off x="8534400" y="2581225"/>
            <a:ext cx="8534400" cy="5077112"/>
            <a:chOff x="0" y="0"/>
            <a:chExt cx="1259374" cy="768435"/>
          </a:xfrm>
        </p:grpSpPr>
        <p:sp>
          <p:nvSpPr>
            <p:cNvPr id="10" name="Freeform 10"/>
            <p:cNvSpPr/>
            <p:nvPr/>
          </p:nvSpPr>
          <p:spPr>
            <a:xfrm>
              <a:off x="0" y="0"/>
              <a:ext cx="1259374" cy="768435"/>
            </a:xfrm>
            <a:custGeom>
              <a:avLst/>
              <a:gdLst/>
              <a:ahLst/>
              <a:cxnLst/>
              <a:rect l="l" t="t" r="r" b="b"/>
              <a:pathLst>
                <a:path w="1259374" h="768435">
                  <a:moveTo>
                    <a:pt x="0" y="0"/>
                  </a:moveTo>
                  <a:lnTo>
                    <a:pt x="1259374" y="0"/>
                  </a:lnTo>
                  <a:lnTo>
                    <a:pt x="1259374" y="768435"/>
                  </a:lnTo>
                  <a:lnTo>
                    <a:pt x="0" y="768435"/>
                  </a:lnTo>
                  <a:close/>
                </a:path>
              </a:pathLst>
            </a:custGeom>
            <a:blipFill>
              <a:blip r:embed="rId3"/>
              <a:stretch>
                <a:fillRect l="-12147" r="-12147"/>
              </a:stretch>
            </a:blipFill>
          </p:spPr>
          <p:txBody>
            <a:bodyPr/>
            <a:lstStyle/>
            <a:p>
              <a:endParaRPr lang="en-US"/>
            </a:p>
          </p:txBody>
        </p:sp>
      </p:grpSp>
      <p:sp>
        <p:nvSpPr>
          <p:cNvPr id="11" name="TextBox 11"/>
          <p:cNvSpPr txBox="1"/>
          <p:nvPr/>
        </p:nvSpPr>
        <p:spPr>
          <a:xfrm>
            <a:off x="3657600" y="351161"/>
            <a:ext cx="11965369" cy="679673"/>
          </a:xfrm>
          <a:prstGeom prst="rect">
            <a:avLst/>
          </a:prstGeom>
        </p:spPr>
        <p:txBody>
          <a:bodyPr wrap="square" lIns="0" tIns="0" rIns="0" bIns="0" rtlCol="0" anchor="t">
            <a:spAutoFit/>
          </a:bodyPr>
          <a:lstStyle/>
          <a:p>
            <a:pPr algn="ctr">
              <a:lnSpc>
                <a:spcPts val="5292"/>
              </a:lnSpc>
            </a:pPr>
            <a:r>
              <a:rPr lang="en-US" sz="4900" dirty="0">
                <a:solidFill>
                  <a:srgbClr val="FFFFFF"/>
                </a:solidFill>
                <a:latin typeface="Anton"/>
                <a:ea typeface="Anton"/>
                <a:cs typeface="Anton"/>
                <a:sym typeface="Anton"/>
              </a:rPr>
              <a:t>PYTHON: DATA CLEANING &amp; VISUALIZATION</a:t>
            </a:r>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10</a:t>
            </a:r>
          </a:p>
        </p:txBody>
      </p:sp>
      <p:sp>
        <p:nvSpPr>
          <p:cNvPr id="13" name="TextBox 13"/>
          <p:cNvSpPr txBox="1"/>
          <p:nvPr/>
        </p:nvSpPr>
        <p:spPr>
          <a:xfrm>
            <a:off x="72788" y="1571075"/>
            <a:ext cx="16086919" cy="423834"/>
          </a:xfrm>
          <a:prstGeom prst="rect">
            <a:avLst/>
          </a:prstGeom>
        </p:spPr>
        <p:txBody>
          <a:bodyPr wrap="square" lIns="0" tIns="0" rIns="0" bIns="0" rtlCol="0" anchor="t">
            <a:spAutoFit/>
          </a:bodyPr>
          <a:lstStyle/>
          <a:p>
            <a:pPr>
              <a:lnSpc>
                <a:spcPts val="3548"/>
              </a:lnSpc>
              <a:spcBef>
                <a:spcPct val="0"/>
              </a:spcBef>
            </a:pPr>
            <a:r>
              <a:rPr lang="en-US" sz="2534" b="1" dirty="0">
                <a:solidFill>
                  <a:srgbClr val="FFFFFF"/>
                </a:solidFill>
                <a:latin typeface="Poppins Bold"/>
                <a:ea typeface="Poppins Bold"/>
                <a:cs typeface="Poppins Bold"/>
                <a:sym typeface="Poppins Bold"/>
              </a:rPr>
              <a:t>⟶ Cleaned, standardized, and visualized the merged dataset to identify patterns and trends.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252773" y="3472918"/>
            <a:ext cx="8311108" cy="4199077"/>
            <a:chOff x="0" y="0"/>
            <a:chExt cx="600275" cy="303281"/>
          </a:xfrm>
        </p:grpSpPr>
        <p:sp>
          <p:nvSpPr>
            <p:cNvPr id="6" name="Freeform 6"/>
            <p:cNvSpPr/>
            <p:nvPr/>
          </p:nvSpPr>
          <p:spPr>
            <a:xfrm>
              <a:off x="0" y="0"/>
              <a:ext cx="600275" cy="303281"/>
            </a:xfrm>
            <a:custGeom>
              <a:avLst/>
              <a:gdLst/>
              <a:ahLst/>
              <a:cxnLst/>
              <a:rect l="l" t="t" r="r" b="b"/>
              <a:pathLst>
                <a:path w="600275" h="303281">
                  <a:moveTo>
                    <a:pt x="0" y="0"/>
                  </a:moveTo>
                  <a:lnTo>
                    <a:pt x="600275" y="0"/>
                  </a:lnTo>
                  <a:lnTo>
                    <a:pt x="600275" y="303281"/>
                  </a:lnTo>
                  <a:lnTo>
                    <a:pt x="0" y="303281"/>
                  </a:lnTo>
                  <a:close/>
                </a:path>
              </a:pathLst>
            </a:custGeom>
            <a:blipFill>
              <a:blip r:embed="rId2"/>
              <a:stretch>
                <a:fillRect t="-5666" b="-5666"/>
              </a:stretch>
            </a:blipFill>
          </p:spPr>
          <p:txBody>
            <a:bodyPr/>
            <a:lstStyle/>
            <a:p>
              <a:endParaRPr lang="en-US" dirty="0"/>
            </a:p>
          </p:txBody>
        </p:sp>
      </p:grpSp>
      <p:grpSp>
        <p:nvGrpSpPr>
          <p:cNvPr id="7" name="Group 7"/>
          <p:cNvGrpSpPr/>
          <p:nvPr/>
        </p:nvGrpSpPr>
        <p:grpSpPr>
          <a:xfrm>
            <a:off x="-396365" y="8956675"/>
            <a:ext cx="1746223" cy="1452297"/>
            <a:chOff x="0" y="0"/>
            <a:chExt cx="1650219" cy="1372452"/>
          </a:xfrm>
        </p:grpSpPr>
        <p:sp>
          <p:nvSpPr>
            <p:cNvPr id="8" name="Freeform 8"/>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grpSp>
        <p:nvGrpSpPr>
          <p:cNvPr id="9" name="Group 9"/>
          <p:cNvGrpSpPr/>
          <p:nvPr/>
        </p:nvGrpSpPr>
        <p:grpSpPr>
          <a:xfrm>
            <a:off x="8801906" y="3472918"/>
            <a:ext cx="8311108" cy="4199077"/>
            <a:chOff x="0" y="0"/>
            <a:chExt cx="610187" cy="334610"/>
          </a:xfrm>
        </p:grpSpPr>
        <p:sp>
          <p:nvSpPr>
            <p:cNvPr id="10" name="Freeform 10"/>
            <p:cNvSpPr/>
            <p:nvPr/>
          </p:nvSpPr>
          <p:spPr>
            <a:xfrm>
              <a:off x="0" y="0"/>
              <a:ext cx="610187" cy="334610"/>
            </a:xfrm>
            <a:custGeom>
              <a:avLst/>
              <a:gdLst/>
              <a:ahLst/>
              <a:cxnLst/>
              <a:rect l="l" t="t" r="r" b="b"/>
              <a:pathLst>
                <a:path w="610187" h="334610">
                  <a:moveTo>
                    <a:pt x="0" y="0"/>
                  </a:moveTo>
                  <a:lnTo>
                    <a:pt x="610187" y="0"/>
                  </a:lnTo>
                  <a:lnTo>
                    <a:pt x="610187" y="334610"/>
                  </a:lnTo>
                  <a:lnTo>
                    <a:pt x="0" y="334610"/>
                  </a:lnTo>
                  <a:close/>
                </a:path>
              </a:pathLst>
            </a:custGeom>
            <a:blipFill>
              <a:blip r:embed="rId3"/>
              <a:stretch>
                <a:fillRect t="-1288" b="-1288"/>
              </a:stretch>
            </a:blipFill>
          </p:spPr>
          <p:txBody>
            <a:bodyPr/>
            <a:lstStyle/>
            <a:p>
              <a:endParaRPr lang="en-US"/>
            </a:p>
          </p:txBody>
        </p:sp>
      </p:grpSp>
      <p:sp>
        <p:nvSpPr>
          <p:cNvPr id="11" name="TextBox 11"/>
          <p:cNvSpPr txBox="1"/>
          <p:nvPr/>
        </p:nvSpPr>
        <p:spPr>
          <a:xfrm>
            <a:off x="3210941" y="204591"/>
            <a:ext cx="11866118" cy="845443"/>
          </a:xfrm>
          <a:prstGeom prst="rect">
            <a:avLst/>
          </a:prstGeom>
        </p:spPr>
        <p:txBody>
          <a:bodyPr lIns="0" tIns="0" rIns="0" bIns="0" rtlCol="0" anchor="t">
            <a:spAutoFit/>
          </a:bodyPr>
          <a:lstStyle/>
          <a:p>
            <a:pPr algn="l">
              <a:lnSpc>
                <a:spcPts val="6588"/>
              </a:lnSpc>
            </a:pPr>
            <a:r>
              <a:rPr lang="en-US" sz="6100" dirty="0">
                <a:solidFill>
                  <a:srgbClr val="FFFFFF"/>
                </a:solidFill>
                <a:latin typeface="Anton"/>
                <a:ea typeface="Anton"/>
                <a:cs typeface="Anton"/>
                <a:sym typeface="Anton"/>
              </a:rPr>
              <a:t>POWER QUERY – DATA TRANSFORMATION</a:t>
            </a:r>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11</a:t>
            </a:r>
          </a:p>
        </p:txBody>
      </p:sp>
      <p:sp>
        <p:nvSpPr>
          <p:cNvPr id="13" name="TextBox 13"/>
          <p:cNvSpPr txBox="1"/>
          <p:nvPr/>
        </p:nvSpPr>
        <p:spPr>
          <a:xfrm>
            <a:off x="0" y="869236"/>
            <a:ext cx="18211800" cy="2918941"/>
          </a:xfrm>
          <a:prstGeom prst="rect">
            <a:avLst/>
          </a:prstGeom>
        </p:spPr>
        <p:txBody>
          <a:bodyPr wrap="square" lIns="0" tIns="0" rIns="0" bIns="0" rtlCol="0" anchor="t">
            <a:spAutoFit/>
          </a:bodyPr>
          <a:lstStyle/>
          <a:p>
            <a:pPr algn="justLow">
              <a:lnSpc>
                <a:spcPts val="4558"/>
              </a:lnSpc>
            </a:pPr>
            <a:r>
              <a:rPr lang="en-US" sz="3256" b="1" dirty="0">
                <a:solidFill>
                  <a:srgbClr val="071436"/>
                </a:solidFill>
                <a:latin typeface="Poppins Bold"/>
                <a:ea typeface="Poppins Bold"/>
                <a:cs typeface="Poppins Bold"/>
                <a:sym typeface="Poppins Bold"/>
              </a:rPr>
              <a:t>⟶ Changed Data Types</a:t>
            </a:r>
          </a:p>
          <a:p>
            <a:pPr algn="justLow">
              <a:lnSpc>
                <a:spcPts val="4558"/>
              </a:lnSpc>
            </a:pPr>
            <a:r>
              <a:rPr lang="en-US" sz="3256" b="1" dirty="0">
                <a:solidFill>
                  <a:srgbClr val="071436"/>
                </a:solidFill>
                <a:latin typeface="Poppins Bold"/>
                <a:ea typeface="Poppins Bold"/>
                <a:cs typeface="Poppins Bold"/>
                <a:sym typeface="Poppins Bold"/>
              </a:rPr>
              <a:t>⟶ Standardized Data Formats</a:t>
            </a:r>
          </a:p>
          <a:p>
            <a:pPr algn="justLow">
              <a:lnSpc>
                <a:spcPts val="4558"/>
              </a:lnSpc>
            </a:pPr>
            <a:r>
              <a:rPr lang="en-US" sz="3256" b="1" dirty="0">
                <a:solidFill>
                  <a:srgbClr val="071436"/>
                </a:solidFill>
                <a:latin typeface="Poppins Bold"/>
                <a:ea typeface="Poppins Bold"/>
                <a:cs typeface="Poppins Bold"/>
                <a:sym typeface="Poppins Bold"/>
              </a:rPr>
              <a:t>⟶ Standardized Governorates</a:t>
            </a:r>
          </a:p>
          <a:p>
            <a:pPr algn="justLow">
              <a:lnSpc>
                <a:spcPts val="4558"/>
              </a:lnSpc>
            </a:pPr>
            <a:r>
              <a:rPr lang="en-US" sz="3256" b="1" dirty="0">
                <a:solidFill>
                  <a:srgbClr val="071436"/>
                </a:solidFill>
                <a:latin typeface="Poppins Bold"/>
                <a:ea typeface="Poppins Bold"/>
                <a:cs typeface="Poppins Bold"/>
                <a:sym typeface="Poppins Bold"/>
              </a:rPr>
              <a:t>⟶ Unpivoted Columns to restructure the data for analysis</a:t>
            </a:r>
          </a:p>
          <a:p>
            <a:pPr algn="justLow">
              <a:lnSpc>
                <a:spcPts val="4558"/>
              </a:lnSpc>
              <a:spcBef>
                <a:spcPct val="0"/>
              </a:spcBef>
            </a:pPr>
            <a:endParaRPr lang="en-US" sz="3256" b="1" dirty="0">
              <a:solidFill>
                <a:srgbClr val="071436"/>
              </a:solidFill>
              <a:latin typeface="Poppins Bold"/>
              <a:ea typeface="Poppins Bold"/>
              <a:cs typeface="Poppins Bold"/>
              <a:sym typeface="Poppins Bold"/>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grpSp>
        <p:nvGrpSpPr>
          <p:cNvPr id="7" name="Group 7"/>
          <p:cNvGrpSpPr/>
          <p:nvPr/>
        </p:nvGrpSpPr>
        <p:grpSpPr>
          <a:xfrm>
            <a:off x="239083" y="3672209"/>
            <a:ext cx="8513433" cy="4792839"/>
            <a:chOff x="0" y="0"/>
            <a:chExt cx="628091" cy="334610"/>
          </a:xfrm>
        </p:grpSpPr>
        <p:sp>
          <p:nvSpPr>
            <p:cNvPr id="8" name="Freeform 8"/>
            <p:cNvSpPr/>
            <p:nvPr/>
          </p:nvSpPr>
          <p:spPr>
            <a:xfrm>
              <a:off x="0" y="0"/>
              <a:ext cx="628091" cy="334610"/>
            </a:xfrm>
            <a:custGeom>
              <a:avLst/>
              <a:gdLst/>
              <a:ahLst/>
              <a:cxnLst/>
              <a:rect l="l" t="t" r="r" b="b"/>
              <a:pathLst>
                <a:path w="628091" h="334610">
                  <a:moveTo>
                    <a:pt x="0" y="0"/>
                  </a:moveTo>
                  <a:lnTo>
                    <a:pt x="628091" y="0"/>
                  </a:lnTo>
                  <a:lnTo>
                    <a:pt x="628091" y="334610"/>
                  </a:lnTo>
                  <a:lnTo>
                    <a:pt x="0" y="334610"/>
                  </a:lnTo>
                  <a:close/>
                </a:path>
              </a:pathLst>
            </a:custGeom>
            <a:blipFill>
              <a:blip r:embed="rId2"/>
              <a:stretch>
                <a:fillRect t="-2793" b="-2793"/>
              </a:stretch>
            </a:blipFill>
          </p:spPr>
          <p:txBody>
            <a:bodyPr/>
            <a:lstStyle/>
            <a:p>
              <a:endParaRPr lang="en-US" dirty="0"/>
            </a:p>
          </p:txBody>
        </p:sp>
      </p:grpSp>
      <p:grpSp>
        <p:nvGrpSpPr>
          <p:cNvPr id="9" name="Group 9"/>
          <p:cNvGrpSpPr/>
          <p:nvPr/>
        </p:nvGrpSpPr>
        <p:grpSpPr>
          <a:xfrm>
            <a:off x="8991600" y="3672209"/>
            <a:ext cx="8890263" cy="4802749"/>
            <a:chOff x="0" y="0"/>
            <a:chExt cx="619389" cy="334610"/>
          </a:xfrm>
        </p:grpSpPr>
        <p:sp>
          <p:nvSpPr>
            <p:cNvPr id="10" name="Freeform 10"/>
            <p:cNvSpPr/>
            <p:nvPr/>
          </p:nvSpPr>
          <p:spPr>
            <a:xfrm>
              <a:off x="0" y="0"/>
              <a:ext cx="619389" cy="334610"/>
            </a:xfrm>
            <a:custGeom>
              <a:avLst/>
              <a:gdLst/>
              <a:ahLst/>
              <a:cxnLst/>
              <a:rect l="l" t="t" r="r" b="b"/>
              <a:pathLst>
                <a:path w="619389" h="334610">
                  <a:moveTo>
                    <a:pt x="0" y="0"/>
                  </a:moveTo>
                  <a:lnTo>
                    <a:pt x="619389" y="0"/>
                  </a:lnTo>
                  <a:lnTo>
                    <a:pt x="619389" y="334610"/>
                  </a:lnTo>
                  <a:lnTo>
                    <a:pt x="0" y="334610"/>
                  </a:lnTo>
                  <a:close/>
                </a:path>
              </a:pathLst>
            </a:custGeom>
            <a:blipFill>
              <a:blip r:embed="rId3"/>
              <a:stretch>
                <a:fillRect t="-2061" b="-2061"/>
              </a:stretch>
            </a:blipFill>
          </p:spPr>
          <p:txBody>
            <a:bodyPr/>
            <a:lstStyle/>
            <a:p>
              <a:endParaRPr lang="en-US"/>
            </a:p>
          </p:txBody>
        </p:sp>
      </p:grpSp>
      <p:sp>
        <p:nvSpPr>
          <p:cNvPr id="11" name="TextBox 11"/>
          <p:cNvSpPr txBox="1"/>
          <p:nvPr/>
        </p:nvSpPr>
        <p:spPr>
          <a:xfrm>
            <a:off x="4495800" y="186156"/>
            <a:ext cx="11866118" cy="845443"/>
          </a:xfrm>
          <a:prstGeom prst="rect">
            <a:avLst/>
          </a:prstGeom>
        </p:spPr>
        <p:txBody>
          <a:bodyPr lIns="0" tIns="0" rIns="0" bIns="0" rtlCol="0" anchor="t">
            <a:spAutoFit/>
          </a:bodyPr>
          <a:lstStyle/>
          <a:p>
            <a:pPr algn="l">
              <a:lnSpc>
                <a:spcPts val="6588"/>
              </a:lnSpc>
            </a:pPr>
            <a:r>
              <a:rPr lang="en-US" sz="6100" dirty="0">
                <a:solidFill>
                  <a:srgbClr val="FFFFFF"/>
                </a:solidFill>
                <a:latin typeface="Anton"/>
                <a:ea typeface="Anton"/>
                <a:cs typeface="Anton"/>
                <a:sym typeface="Anton"/>
              </a:rPr>
              <a:t>POWER QUERY – DATA TRANSFORMATION</a:t>
            </a:r>
          </a:p>
        </p:txBody>
      </p:sp>
      <p:sp>
        <p:nvSpPr>
          <p:cNvPr id="12" name="TextBox 12"/>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12</a:t>
            </a:r>
          </a:p>
        </p:txBody>
      </p:sp>
      <p:sp>
        <p:nvSpPr>
          <p:cNvPr id="13" name="TextBox 13"/>
          <p:cNvSpPr txBox="1"/>
          <p:nvPr/>
        </p:nvSpPr>
        <p:spPr>
          <a:xfrm>
            <a:off x="253872" y="1112333"/>
            <a:ext cx="15437171" cy="2325637"/>
          </a:xfrm>
          <a:prstGeom prst="rect">
            <a:avLst/>
          </a:prstGeom>
        </p:spPr>
        <p:txBody>
          <a:bodyPr wrap="square" lIns="0" tIns="0" rIns="0" bIns="0" rtlCol="0" anchor="t">
            <a:spAutoFit/>
          </a:bodyPr>
          <a:lstStyle/>
          <a:p>
            <a:pPr algn="justLow">
              <a:lnSpc>
                <a:spcPts val="4619"/>
              </a:lnSpc>
              <a:spcBef>
                <a:spcPct val="0"/>
              </a:spcBef>
            </a:pPr>
            <a:r>
              <a:rPr lang="en-US" sz="3299" b="1" dirty="0">
                <a:solidFill>
                  <a:srgbClr val="071436"/>
                </a:solidFill>
                <a:latin typeface="Poppins Bold"/>
                <a:ea typeface="Poppins Bold"/>
                <a:cs typeface="Poppins Bold"/>
                <a:sym typeface="Poppins Bold"/>
              </a:rPr>
              <a:t>⟶  Changed Data Types</a:t>
            </a:r>
          </a:p>
          <a:p>
            <a:pPr algn="justLow">
              <a:lnSpc>
                <a:spcPts val="4619"/>
              </a:lnSpc>
              <a:spcBef>
                <a:spcPct val="0"/>
              </a:spcBef>
            </a:pPr>
            <a:r>
              <a:rPr lang="en-US" sz="3299" b="1" dirty="0">
                <a:solidFill>
                  <a:srgbClr val="071436"/>
                </a:solidFill>
                <a:latin typeface="Poppins Bold"/>
                <a:ea typeface="Poppins Bold"/>
                <a:cs typeface="Poppins Bold"/>
                <a:sym typeface="Poppins Bold"/>
              </a:rPr>
              <a:t>⟶ Standardized Data Formats</a:t>
            </a:r>
          </a:p>
          <a:p>
            <a:pPr algn="justLow">
              <a:lnSpc>
                <a:spcPts val="4619"/>
              </a:lnSpc>
              <a:spcBef>
                <a:spcPct val="0"/>
              </a:spcBef>
            </a:pPr>
            <a:r>
              <a:rPr lang="en-US" sz="3299" b="1" dirty="0">
                <a:solidFill>
                  <a:srgbClr val="071436"/>
                </a:solidFill>
                <a:latin typeface="Poppins Bold"/>
                <a:ea typeface="Poppins Bold"/>
                <a:cs typeface="Poppins Bold"/>
                <a:sym typeface="Poppins Bold"/>
              </a:rPr>
              <a:t>⟶ </a:t>
            </a:r>
            <a:r>
              <a:rPr lang="en-US" sz="3256" b="1" dirty="0">
                <a:solidFill>
                  <a:srgbClr val="071436"/>
                </a:solidFill>
                <a:latin typeface="Poppins Bold"/>
                <a:cs typeface="Poppins Bold"/>
                <a:sym typeface="Poppins Bold"/>
              </a:rPr>
              <a:t>Standardized</a:t>
            </a:r>
            <a:r>
              <a:rPr lang="en-US" sz="3299" b="1" dirty="0">
                <a:solidFill>
                  <a:srgbClr val="071436"/>
                </a:solidFill>
                <a:latin typeface="Poppins Bold"/>
                <a:ea typeface="Poppins Bold"/>
                <a:cs typeface="Poppins Bold"/>
                <a:sym typeface="Poppins Bold"/>
              </a:rPr>
              <a:t> Governorates</a:t>
            </a:r>
          </a:p>
          <a:p>
            <a:pPr algn="justLow">
              <a:lnSpc>
                <a:spcPts val="4619"/>
              </a:lnSpc>
              <a:spcBef>
                <a:spcPct val="0"/>
              </a:spcBef>
            </a:pPr>
            <a:r>
              <a:rPr lang="en-US" sz="3299" b="1" dirty="0">
                <a:solidFill>
                  <a:srgbClr val="071436"/>
                </a:solidFill>
                <a:latin typeface="Poppins Bold"/>
                <a:ea typeface="Poppins Bold"/>
                <a:cs typeface="Poppins Bold"/>
                <a:sym typeface="Poppins Bold"/>
              </a:rPr>
              <a:t>⟶  Unpivoted Columns to restructure the data for analysis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253872" y="1337172"/>
            <a:ext cx="11561885" cy="7186668"/>
            <a:chOff x="0" y="0"/>
            <a:chExt cx="913532" cy="567835"/>
          </a:xfrm>
        </p:grpSpPr>
        <p:sp>
          <p:nvSpPr>
            <p:cNvPr id="6" name="Freeform 6"/>
            <p:cNvSpPr/>
            <p:nvPr/>
          </p:nvSpPr>
          <p:spPr>
            <a:xfrm>
              <a:off x="0" y="0"/>
              <a:ext cx="913532" cy="567835"/>
            </a:xfrm>
            <a:custGeom>
              <a:avLst/>
              <a:gdLst/>
              <a:ahLst/>
              <a:cxnLst/>
              <a:rect l="l" t="t" r="r" b="b"/>
              <a:pathLst>
                <a:path w="913532" h="567835">
                  <a:moveTo>
                    <a:pt x="0" y="0"/>
                  </a:moveTo>
                  <a:lnTo>
                    <a:pt x="913532" y="0"/>
                  </a:lnTo>
                  <a:lnTo>
                    <a:pt x="913532" y="567835"/>
                  </a:lnTo>
                  <a:lnTo>
                    <a:pt x="0" y="567835"/>
                  </a:lnTo>
                  <a:close/>
                </a:path>
              </a:pathLst>
            </a:custGeom>
            <a:blipFill>
              <a:blip r:embed="rId2"/>
              <a:stretch>
                <a:fillRect l="-9410" r="-9410"/>
              </a:stretch>
            </a:blipFill>
          </p:spPr>
          <p:txBody>
            <a:bodyPr/>
            <a:lstStyle/>
            <a:p>
              <a:endParaRPr lang="en-US"/>
            </a:p>
          </p:txBody>
        </p:sp>
      </p:grpSp>
      <p:grpSp>
        <p:nvGrpSpPr>
          <p:cNvPr id="7" name="Group 7"/>
          <p:cNvGrpSpPr/>
          <p:nvPr/>
        </p:nvGrpSpPr>
        <p:grpSpPr>
          <a:xfrm>
            <a:off x="-396365" y="8956675"/>
            <a:ext cx="1746223" cy="1452297"/>
            <a:chOff x="0" y="0"/>
            <a:chExt cx="1650219" cy="1372452"/>
          </a:xfrm>
        </p:grpSpPr>
        <p:sp>
          <p:nvSpPr>
            <p:cNvPr id="8" name="Freeform 8"/>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9" name="TextBox 9"/>
          <p:cNvSpPr txBox="1"/>
          <p:nvPr/>
        </p:nvSpPr>
        <p:spPr>
          <a:xfrm>
            <a:off x="5351944" y="95250"/>
            <a:ext cx="9200719" cy="1196340"/>
          </a:xfrm>
          <a:prstGeom prst="rect">
            <a:avLst/>
          </a:prstGeom>
        </p:spPr>
        <p:txBody>
          <a:bodyPr lIns="0" tIns="0" rIns="0" bIns="0" rtlCol="0" anchor="t">
            <a:spAutoFit/>
          </a:bodyPr>
          <a:lstStyle/>
          <a:p>
            <a:pPr algn="l">
              <a:lnSpc>
                <a:spcPts val="9179"/>
              </a:lnSpc>
            </a:pPr>
            <a:r>
              <a:rPr lang="en-US" sz="8499">
                <a:solidFill>
                  <a:srgbClr val="FFFFFF"/>
                </a:solidFill>
                <a:latin typeface="Anton"/>
                <a:ea typeface="Anton"/>
                <a:cs typeface="Anton"/>
                <a:sym typeface="Anton"/>
              </a:rPr>
              <a:t>DATA MODELING</a:t>
            </a:r>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13</a:t>
            </a:r>
          </a:p>
        </p:txBody>
      </p:sp>
      <p:sp>
        <p:nvSpPr>
          <p:cNvPr id="11" name="TextBox 11"/>
          <p:cNvSpPr txBox="1"/>
          <p:nvPr/>
        </p:nvSpPr>
        <p:spPr>
          <a:xfrm>
            <a:off x="11745029" y="1945722"/>
            <a:ext cx="6542971" cy="4902836"/>
          </a:xfrm>
          <a:prstGeom prst="rect">
            <a:avLst/>
          </a:prstGeom>
        </p:spPr>
        <p:txBody>
          <a:bodyPr lIns="0" tIns="0" rIns="0" bIns="0" rtlCol="0" anchor="t">
            <a:spAutoFit/>
          </a:bodyPr>
          <a:lstStyle/>
          <a:p>
            <a:pPr algn="ctr">
              <a:lnSpc>
                <a:spcPts val="4339"/>
              </a:lnSpc>
              <a:spcBef>
                <a:spcPct val="0"/>
              </a:spcBef>
            </a:pPr>
            <a:r>
              <a:rPr lang="en-US" sz="3099" b="1" dirty="0">
                <a:solidFill>
                  <a:srgbClr val="071436"/>
                </a:solidFill>
                <a:latin typeface="Poppins Bold"/>
                <a:ea typeface="Poppins Bold"/>
                <a:cs typeface="Poppins Bold"/>
                <a:sym typeface="Poppins Bold"/>
              </a:rPr>
              <a:t>⟶  Built a structured Data Model</a:t>
            </a:r>
          </a:p>
          <a:p>
            <a:pPr algn="ctr">
              <a:lnSpc>
                <a:spcPts val="4339"/>
              </a:lnSpc>
              <a:spcBef>
                <a:spcPct val="0"/>
              </a:spcBef>
            </a:pPr>
            <a:r>
              <a:rPr lang="en-US" sz="3099" b="1" dirty="0">
                <a:solidFill>
                  <a:srgbClr val="071436"/>
                </a:solidFill>
                <a:latin typeface="Poppins Bold"/>
                <a:ea typeface="Poppins Bold"/>
                <a:cs typeface="Poppins Bold"/>
                <a:sym typeface="Poppins Bold"/>
              </a:rPr>
              <a:t>⟶  Created Relationships between tables</a:t>
            </a:r>
          </a:p>
          <a:p>
            <a:pPr algn="ctr">
              <a:lnSpc>
                <a:spcPts val="4339"/>
              </a:lnSpc>
              <a:spcBef>
                <a:spcPct val="0"/>
              </a:spcBef>
            </a:pPr>
            <a:r>
              <a:rPr lang="en-US" sz="3099" b="1" dirty="0">
                <a:solidFill>
                  <a:srgbClr val="071436"/>
                </a:solidFill>
                <a:latin typeface="Poppins Bold"/>
                <a:ea typeface="Poppins Bold"/>
                <a:cs typeface="Poppins Bold"/>
                <a:sym typeface="Poppins Bold"/>
              </a:rPr>
              <a:t>⟶  Built Dimension Tables for analysis</a:t>
            </a:r>
          </a:p>
          <a:p>
            <a:pPr algn="ctr">
              <a:lnSpc>
                <a:spcPts val="4339"/>
              </a:lnSpc>
              <a:spcBef>
                <a:spcPct val="0"/>
              </a:spcBef>
            </a:pPr>
            <a:r>
              <a:rPr lang="en-US" sz="3099" b="1" dirty="0">
                <a:solidFill>
                  <a:srgbClr val="071436"/>
                </a:solidFill>
                <a:latin typeface="Poppins Bold"/>
                <a:ea typeface="Poppins Bold"/>
                <a:cs typeface="Poppins Bold"/>
                <a:sym typeface="Poppins Bold"/>
              </a:rPr>
              <a:t>⟶  Used a Bridge Table to manage relationships</a:t>
            </a:r>
          </a:p>
          <a:p>
            <a:pPr algn="ctr">
              <a:lnSpc>
                <a:spcPts val="4339"/>
              </a:lnSpc>
              <a:spcBef>
                <a:spcPct val="0"/>
              </a:spcBef>
            </a:pPr>
            <a:r>
              <a:rPr lang="en-US" sz="3099" b="1" dirty="0">
                <a:solidFill>
                  <a:srgbClr val="071436"/>
                </a:solidFill>
                <a:latin typeface="Poppins Bold"/>
                <a:ea typeface="Poppins Bold"/>
                <a:cs typeface="Poppins Bold"/>
                <a:sym typeface="Poppins Bold"/>
              </a:rPr>
              <a:t>⟶  Added a Calendar Table for time-based analysis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sp>
        <p:nvSpPr>
          <p:cNvPr id="7" name="Freeform 7"/>
          <p:cNvSpPr/>
          <p:nvPr/>
        </p:nvSpPr>
        <p:spPr>
          <a:xfrm>
            <a:off x="94910" y="2885298"/>
            <a:ext cx="9312530" cy="5669589"/>
          </a:xfrm>
          <a:custGeom>
            <a:avLst/>
            <a:gdLst/>
            <a:ahLst/>
            <a:cxnLst/>
            <a:rect l="l" t="t" r="r" b="b"/>
            <a:pathLst>
              <a:path w="9312530" h="5669589">
                <a:moveTo>
                  <a:pt x="0" y="0"/>
                </a:moveTo>
                <a:lnTo>
                  <a:pt x="9312530" y="0"/>
                </a:lnTo>
                <a:lnTo>
                  <a:pt x="9312530" y="5669589"/>
                </a:lnTo>
                <a:lnTo>
                  <a:pt x="0" y="5669589"/>
                </a:lnTo>
                <a:lnTo>
                  <a:pt x="0" y="0"/>
                </a:lnTo>
                <a:close/>
              </a:path>
            </a:pathLst>
          </a:custGeom>
          <a:blipFill>
            <a:blip r:embed="rId2"/>
            <a:stretch>
              <a:fillRect/>
            </a:stretch>
          </a:blipFill>
        </p:spPr>
        <p:txBody>
          <a:bodyPr/>
          <a:lstStyle/>
          <a:p>
            <a:endParaRPr lang="en-US"/>
          </a:p>
        </p:txBody>
      </p:sp>
      <p:sp>
        <p:nvSpPr>
          <p:cNvPr id="8" name="Freeform 8"/>
          <p:cNvSpPr/>
          <p:nvPr/>
        </p:nvSpPr>
        <p:spPr>
          <a:xfrm>
            <a:off x="9493728" y="2898817"/>
            <a:ext cx="8794272" cy="5656070"/>
          </a:xfrm>
          <a:custGeom>
            <a:avLst/>
            <a:gdLst/>
            <a:ahLst/>
            <a:cxnLst/>
            <a:rect l="l" t="t" r="r" b="b"/>
            <a:pathLst>
              <a:path w="8794272" h="5300119">
                <a:moveTo>
                  <a:pt x="0" y="0"/>
                </a:moveTo>
                <a:lnTo>
                  <a:pt x="8794272" y="0"/>
                </a:lnTo>
                <a:lnTo>
                  <a:pt x="8794272" y="5300120"/>
                </a:lnTo>
                <a:lnTo>
                  <a:pt x="0" y="5300120"/>
                </a:lnTo>
                <a:lnTo>
                  <a:pt x="0" y="0"/>
                </a:lnTo>
                <a:close/>
              </a:path>
            </a:pathLst>
          </a:custGeom>
          <a:blipFill>
            <a:blip r:embed="rId3"/>
            <a:stretch>
              <a:fillRect/>
            </a:stretch>
          </a:blipFill>
        </p:spPr>
        <p:txBody>
          <a:bodyPr/>
          <a:lstStyle/>
          <a:p>
            <a:endParaRPr lang="en-US"/>
          </a:p>
        </p:txBody>
      </p:sp>
      <p:sp>
        <p:nvSpPr>
          <p:cNvPr id="9" name="TextBox 9"/>
          <p:cNvSpPr txBox="1"/>
          <p:nvPr/>
        </p:nvSpPr>
        <p:spPr>
          <a:xfrm>
            <a:off x="5922641" y="307579"/>
            <a:ext cx="6491139" cy="1123314"/>
          </a:xfrm>
          <a:prstGeom prst="rect">
            <a:avLst/>
          </a:prstGeom>
        </p:spPr>
        <p:txBody>
          <a:bodyPr lIns="0" tIns="0" rIns="0" bIns="0" rtlCol="0" anchor="t">
            <a:spAutoFit/>
          </a:bodyPr>
          <a:lstStyle/>
          <a:p>
            <a:pPr algn="l">
              <a:lnSpc>
                <a:spcPts val="8329"/>
              </a:lnSpc>
            </a:pPr>
            <a:r>
              <a:rPr lang="en-US" sz="8499" spc="-271" dirty="0">
                <a:solidFill>
                  <a:srgbClr val="FEFEFE"/>
                </a:solidFill>
                <a:latin typeface="Anton"/>
                <a:ea typeface="Anton"/>
                <a:cs typeface="Anton"/>
                <a:sym typeface="Anton"/>
              </a:rPr>
              <a:t>OUR DASHBOARD</a:t>
            </a:r>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14</a:t>
            </a:r>
          </a:p>
        </p:txBody>
      </p:sp>
      <p:sp>
        <p:nvSpPr>
          <p:cNvPr id="12" name="TextBox 11">
            <a:extLst>
              <a:ext uri="{FF2B5EF4-FFF2-40B4-BE49-F238E27FC236}">
                <a16:creationId xmlns:a16="http://schemas.microsoft.com/office/drawing/2014/main" id="{2F4EB8CA-3B32-7818-D272-EB02D473AB34}"/>
              </a:ext>
            </a:extLst>
          </p:cNvPr>
          <p:cNvSpPr txBox="1"/>
          <p:nvPr/>
        </p:nvSpPr>
        <p:spPr>
          <a:xfrm>
            <a:off x="94910" y="1314921"/>
            <a:ext cx="18193089" cy="1168590"/>
          </a:xfrm>
          <a:prstGeom prst="rect">
            <a:avLst/>
          </a:prstGeom>
          <a:noFill/>
        </p:spPr>
        <p:txBody>
          <a:bodyPr wrap="square">
            <a:spAutoFit/>
          </a:bodyPr>
          <a:lstStyle/>
          <a:p>
            <a:pPr algn="justLow">
              <a:lnSpc>
                <a:spcPts val="4339"/>
              </a:lnSpc>
              <a:spcBef>
                <a:spcPct val="0"/>
              </a:spcBef>
            </a:pPr>
            <a:r>
              <a:rPr lang="en-US" sz="3099" b="1" dirty="0">
                <a:solidFill>
                  <a:schemeClr val="bg1"/>
                </a:solidFill>
                <a:latin typeface="Poppins Bold"/>
                <a:ea typeface="Poppins Bold"/>
                <a:cs typeface="Poppins Bold"/>
                <a:sym typeface="Poppins Bold"/>
              </a:rPr>
              <a:t>⟶  Built 4 Dashboards: (Overview, Death, Injuries, Geography), Home Page, Forecast Page, Insights &amp; Recommendations Page, tooltip hover, drill-through Page </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8857478" y="844576"/>
            <a:ext cx="8339430" cy="8350720"/>
            <a:chOff x="0" y="0"/>
            <a:chExt cx="658918" cy="659810"/>
          </a:xfrm>
        </p:grpSpPr>
        <p:sp>
          <p:nvSpPr>
            <p:cNvPr id="3" name="Freeform 3"/>
            <p:cNvSpPr/>
            <p:nvPr/>
          </p:nvSpPr>
          <p:spPr>
            <a:xfrm>
              <a:off x="0" y="0"/>
              <a:ext cx="658918" cy="659810"/>
            </a:xfrm>
            <a:custGeom>
              <a:avLst/>
              <a:gdLst/>
              <a:ahLst/>
              <a:cxnLst/>
              <a:rect l="l" t="t" r="r" b="b"/>
              <a:pathLst>
                <a:path w="658918" h="659810">
                  <a:moveTo>
                    <a:pt x="0" y="0"/>
                  </a:moveTo>
                  <a:lnTo>
                    <a:pt x="658918" y="0"/>
                  </a:lnTo>
                  <a:lnTo>
                    <a:pt x="658918" y="659810"/>
                  </a:lnTo>
                  <a:lnTo>
                    <a:pt x="0" y="659810"/>
                  </a:lnTo>
                  <a:close/>
                </a:path>
              </a:pathLst>
            </a:custGeom>
            <a:blipFill>
              <a:blip r:embed="rId2"/>
              <a:stretch>
                <a:fillRect l="-39555" r="-39555"/>
              </a:stretch>
            </a:blipFill>
          </p:spPr>
          <p:txBody>
            <a:bodyPr/>
            <a:lstStyle/>
            <a:p>
              <a:endParaRPr lang="en-US" dirty="0"/>
            </a:p>
          </p:txBody>
        </p:sp>
      </p:grpSp>
      <p:grpSp>
        <p:nvGrpSpPr>
          <p:cNvPr id="4" name="Group 4"/>
          <p:cNvGrpSpPr/>
          <p:nvPr/>
        </p:nvGrpSpPr>
        <p:grpSpPr>
          <a:xfrm>
            <a:off x="673061" y="368162"/>
            <a:ext cx="445747" cy="44574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sp>
        <p:nvSpPr>
          <p:cNvPr id="7" name="AutoShape 7"/>
          <p:cNvSpPr/>
          <p:nvPr/>
        </p:nvSpPr>
        <p:spPr>
          <a:xfrm>
            <a:off x="1696806" y="5074372"/>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8" name="AutoShape 8"/>
          <p:cNvSpPr/>
          <p:nvPr/>
        </p:nvSpPr>
        <p:spPr>
          <a:xfrm>
            <a:off x="1696806" y="5633688"/>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9" name="AutoShape 9"/>
          <p:cNvSpPr/>
          <p:nvPr/>
        </p:nvSpPr>
        <p:spPr>
          <a:xfrm>
            <a:off x="1696806" y="6193003"/>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0" name="AutoShape 10"/>
          <p:cNvSpPr/>
          <p:nvPr/>
        </p:nvSpPr>
        <p:spPr>
          <a:xfrm>
            <a:off x="1696806" y="6752319"/>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1" name="AutoShape 11"/>
          <p:cNvSpPr/>
          <p:nvPr/>
        </p:nvSpPr>
        <p:spPr>
          <a:xfrm>
            <a:off x="1696806" y="4515056"/>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2" name="AutoShape 12"/>
          <p:cNvSpPr/>
          <p:nvPr/>
        </p:nvSpPr>
        <p:spPr>
          <a:xfrm>
            <a:off x="1696806" y="7311634"/>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1696806" y="7870950"/>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14" name="AutoShape 14"/>
          <p:cNvSpPr/>
          <p:nvPr/>
        </p:nvSpPr>
        <p:spPr>
          <a:xfrm>
            <a:off x="1696806" y="8430266"/>
            <a:ext cx="6815129" cy="0"/>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15" name="Group 15"/>
          <p:cNvGrpSpPr/>
          <p:nvPr/>
        </p:nvGrpSpPr>
        <p:grpSpPr>
          <a:xfrm>
            <a:off x="-396365" y="8956675"/>
            <a:ext cx="1746223" cy="1452297"/>
            <a:chOff x="0" y="0"/>
            <a:chExt cx="1650219" cy="1372452"/>
          </a:xfrm>
        </p:grpSpPr>
        <p:sp>
          <p:nvSpPr>
            <p:cNvPr id="16" name="Freeform 1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17" name="TextBox 17"/>
          <p:cNvSpPr txBox="1"/>
          <p:nvPr/>
        </p:nvSpPr>
        <p:spPr>
          <a:xfrm>
            <a:off x="237300" y="3148407"/>
            <a:ext cx="8277278" cy="1099949"/>
          </a:xfrm>
          <a:prstGeom prst="rect">
            <a:avLst/>
          </a:prstGeom>
        </p:spPr>
        <p:txBody>
          <a:bodyPr lIns="0" tIns="0" rIns="0" bIns="0" rtlCol="0" anchor="t">
            <a:spAutoFit/>
          </a:bodyPr>
          <a:lstStyle/>
          <a:p>
            <a:pPr algn="r">
              <a:lnSpc>
                <a:spcPts val="8424"/>
              </a:lnSpc>
            </a:pPr>
            <a:r>
              <a:rPr lang="en-US" sz="7800">
                <a:solidFill>
                  <a:srgbClr val="FFFFFF"/>
                </a:solidFill>
                <a:latin typeface="Anton"/>
                <a:ea typeface="Anton"/>
                <a:cs typeface="Anton"/>
                <a:sym typeface="Anton"/>
              </a:rPr>
              <a:t>DASHBOARD FEATURES</a:t>
            </a:r>
          </a:p>
        </p:txBody>
      </p:sp>
      <p:sp>
        <p:nvSpPr>
          <p:cNvPr id="18" name="TextBox 18"/>
          <p:cNvSpPr txBox="1"/>
          <p:nvPr/>
        </p:nvSpPr>
        <p:spPr>
          <a:xfrm>
            <a:off x="1696806" y="4643842"/>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01</a:t>
            </a:r>
          </a:p>
        </p:txBody>
      </p:sp>
      <p:sp>
        <p:nvSpPr>
          <p:cNvPr id="19" name="TextBox 19"/>
          <p:cNvSpPr txBox="1"/>
          <p:nvPr/>
        </p:nvSpPr>
        <p:spPr>
          <a:xfrm>
            <a:off x="1696806" y="5207722"/>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02</a:t>
            </a:r>
          </a:p>
        </p:txBody>
      </p:sp>
      <p:sp>
        <p:nvSpPr>
          <p:cNvPr id="20" name="TextBox 20"/>
          <p:cNvSpPr txBox="1"/>
          <p:nvPr/>
        </p:nvSpPr>
        <p:spPr>
          <a:xfrm>
            <a:off x="1696806" y="5764755"/>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03</a:t>
            </a:r>
          </a:p>
        </p:txBody>
      </p:sp>
      <p:sp>
        <p:nvSpPr>
          <p:cNvPr id="21" name="TextBox 21"/>
          <p:cNvSpPr txBox="1"/>
          <p:nvPr/>
        </p:nvSpPr>
        <p:spPr>
          <a:xfrm>
            <a:off x="1696806" y="6326353"/>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04</a:t>
            </a:r>
          </a:p>
        </p:txBody>
      </p:sp>
      <p:sp>
        <p:nvSpPr>
          <p:cNvPr id="22" name="TextBox 22"/>
          <p:cNvSpPr txBox="1"/>
          <p:nvPr/>
        </p:nvSpPr>
        <p:spPr>
          <a:xfrm>
            <a:off x="1696806" y="6885669"/>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05</a:t>
            </a:r>
          </a:p>
        </p:txBody>
      </p:sp>
      <p:sp>
        <p:nvSpPr>
          <p:cNvPr id="23" name="TextBox 23"/>
          <p:cNvSpPr txBox="1"/>
          <p:nvPr/>
        </p:nvSpPr>
        <p:spPr>
          <a:xfrm>
            <a:off x="1696806" y="7442702"/>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06</a:t>
            </a:r>
          </a:p>
        </p:txBody>
      </p:sp>
      <p:sp>
        <p:nvSpPr>
          <p:cNvPr id="24" name="TextBox 24"/>
          <p:cNvSpPr txBox="1"/>
          <p:nvPr/>
        </p:nvSpPr>
        <p:spPr>
          <a:xfrm>
            <a:off x="1696806" y="8004300"/>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07</a:t>
            </a:r>
          </a:p>
        </p:txBody>
      </p:sp>
      <p:sp>
        <p:nvSpPr>
          <p:cNvPr id="25" name="TextBox 25"/>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15</a:t>
            </a:r>
          </a:p>
        </p:txBody>
      </p:sp>
      <p:sp>
        <p:nvSpPr>
          <p:cNvPr id="26" name="TextBox 26"/>
          <p:cNvSpPr txBox="1"/>
          <p:nvPr/>
        </p:nvSpPr>
        <p:spPr>
          <a:xfrm>
            <a:off x="1781928" y="4612728"/>
            <a:ext cx="6815129" cy="391795"/>
          </a:xfrm>
          <a:prstGeom prst="rect">
            <a:avLst/>
          </a:prstGeom>
        </p:spPr>
        <p:txBody>
          <a:bodyPr lIns="0" tIns="0" rIns="0" bIns="0" rtlCol="0" anchor="t">
            <a:spAutoFit/>
          </a:bodyPr>
          <a:lstStyle/>
          <a:p>
            <a:pPr algn="ctr">
              <a:lnSpc>
                <a:spcPts val="3079"/>
              </a:lnSpc>
              <a:spcBef>
                <a:spcPct val="0"/>
              </a:spcBef>
            </a:pPr>
            <a:r>
              <a:rPr lang="en-US" sz="2199" dirty="0">
                <a:solidFill>
                  <a:srgbClr val="071436"/>
                </a:solidFill>
                <a:latin typeface="Poppins"/>
                <a:ea typeface="Poppins"/>
                <a:cs typeface="Poppins"/>
                <a:sym typeface="Poppins"/>
              </a:rPr>
              <a:t>Customized </a:t>
            </a:r>
            <a:r>
              <a:rPr lang="en-US" sz="2199" dirty="0" err="1">
                <a:solidFill>
                  <a:srgbClr val="071436"/>
                </a:solidFill>
                <a:latin typeface="Poppins"/>
                <a:ea typeface="Poppins"/>
                <a:cs typeface="Poppins"/>
                <a:sym typeface="Poppins"/>
              </a:rPr>
              <a:t>figma</a:t>
            </a:r>
            <a:r>
              <a:rPr lang="en-US" sz="2199" dirty="0">
                <a:solidFill>
                  <a:srgbClr val="071436"/>
                </a:solidFill>
                <a:latin typeface="Poppins"/>
                <a:ea typeface="Poppins"/>
                <a:cs typeface="Poppins"/>
                <a:sym typeface="Poppins"/>
              </a:rPr>
              <a:t> background </a:t>
            </a:r>
          </a:p>
        </p:txBody>
      </p:sp>
      <p:sp>
        <p:nvSpPr>
          <p:cNvPr id="27" name="TextBox 27"/>
          <p:cNvSpPr txBox="1"/>
          <p:nvPr/>
        </p:nvSpPr>
        <p:spPr>
          <a:xfrm>
            <a:off x="3596504" y="5171529"/>
            <a:ext cx="3241516" cy="354328"/>
          </a:xfrm>
          <a:prstGeom prst="rect">
            <a:avLst/>
          </a:prstGeom>
        </p:spPr>
        <p:txBody>
          <a:bodyPr wrap="square" lIns="0" tIns="0" rIns="0" bIns="0" rtlCol="0" anchor="t">
            <a:spAutoFit/>
          </a:bodyPr>
          <a:lstStyle/>
          <a:p>
            <a:pPr algn="ctr">
              <a:lnSpc>
                <a:spcPts val="2940"/>
              </a:lnSpc>
              <a:spcBef>
                <a:spcPct val="0"/>
              </a:spcBef>
            </a:pPr>
            <a:r>
              <a:rPr lang="en-US" sz="2100" dirty="0">
                <a:solidFill>
                  <a:srgbClr val="071436"/>
                </a:solidFill>
                <a:latin typeface="Poppins"/>
                <a:ea typeface="Poppins"/>
                <a:cs typeface="Poppins"/>
                <a:sym typeface="Poppins"/>
              </a:rPr>
              <a:t>Dark vs light mode</a:t>
            </a:r>
          </a:p>
        </p:txBody>
      </p:sp>
      <p:sp>
        <p:nvSpPr>
          <p:cNvPr id="28" name="TextBox 28"/>
          <p:cNvSpPr txBox="1"/>
          <p:nvPr/>
        </p:nvSpPr>
        <p:spPr>
          <a:xfrm>
            <a:off x="4043546" y="5711694"/>
            <a:ext cx="2347432" cy="377091"/>
          </a:xfrm>
          <a:prstGeom prst="rect">
            <a:avLst/>
          </a:prstGeom>
        </p:spPr>
        <p:txBody>
          <a:bodyPr wrap="square" lIns="0" tIns="0" rIns="0" bIns="0" rtlCol="0" anchor="t">
            <a:spAutoFit/>
          </a:bodyPr>
          <a:lstStyle/>
          <a:p>
            <a:pPr algn="ctr">
              <a:lnSpc>
                <a:spcPts val="3079"/>
              </a:lnSpc>
              <a:spcBef>
                <a:spcPct val="0"/>
              </a:spcBef>
            </a:pPr>
            <a:r>
              <a:rPr lang="en-US" sz="2199" dirty="0">
                <a:solidFill>
                  <a:srgbClr val="071436"/>
                </a:solidFill>
                <a:latin typeface="Poppins"/>
                <a:ea typeface="Poppins"/>
                <a:cs typeface="Poppins"/>
                <a:sym typeface="Poppins"/>
              </a:rPr>
              <a:t>Bookmarks</a:t>
            </a:r>
          </a:p>
        </p:txBody>
      </p:sp>
      <p:sp>
        <p:nvSpPr>
          <p:cNvPr id="29" name="TextBox 29"/>
          <p:cNvSpPr txBox="1"/>
          <p:nvPr/>
        </p:nvSpPr>
        <p:spPr>
          <a:xfrm>
            <a:off x="3855795" y="6259678"/>
            <a:ext cx="3371501" cy="391795"/>
          </a:xfrm>
          <a:prstGeom prst="rect">
            <a:avLst/>
          </a:prstGeom>
        </p:spPr>
        <p:txBody>
          <a:bodyPr lIns="0" tIns="0" rIns="0" bIns="0" rtlCol="0" anchor="t">
            <a:spAutoFit/>
          </a:bodyPr>
          <a:lstStyle/>
          <a:p>
            <a:pPr algn="ctr">
              <a:lnSpc>
                <a:spcPts val="3079"/>
              </a:lnSpc>
              <a:spcBef>
                <a:spcPct val="0"/>
              </a:spcBef>
            </a:pPr>
            <a:r>
              <a:rPr lang="en-US" sz="2199">
                <a:solidFill>
                  <a:srgbClr val="071436"/>
                </a:solidFill>
                <a:latin typeface="Poppins"/>
                <a:ea typeface="Poppins"/>
                <a:cs typeface="Poppins"/>
                <a:sym typeface="Poppins"/>
              </a:rPr>
              <a:t>Drill through,Drill Down </a:t>
            </a:r>
          </a:p>
        </p:txBody>
      </p:sp>
      <p:sp>
        <p:nvSpPr>
          <p:cNvPr id="30" name="TextBox 30"/>
          <p:cNvSpPr txBox="1"/>
          <p:nvPr/>
        </p:nvSpPr>
        <p:spPr>
          <a:xfrm>
            <a:off x="3409307" y="6828519"/>
            <a:ext cx="3371501" cy="391795"/>
          </a:xfrm>
          <a:prstGeom prst="rect">
            <a:avLst/>
          </a:prstGeom>
        </p:spPr>
        <p:txBody>
          <a:bodyPr lIns="0" tIns="0" rIns="0" bIns="0" rtlCol="0" anchor="t">
            <a:spAutoFit/>
          </a:bodyPr>
          <a:lstStyle/>
          <a:p>
            <a:pPr algn="ctr">
              <a:lnSpc>
                <a:spcPts val="3079"/>
              </a:lnSpc>
              <a:spcBef>
                <a:spcPct val="0"/>
              </a:spcBef>
            </a:pPr>
            <a:r>
              <a:rPr lang="en-US" sz="2199">
                <a:solidFill>
                  <a:srgbClr val="071436"/>
                </a:solidFill>
                <a:latin typeface="Poppins"/>
                <a:ea typeface="Poppins"/>
                <a:cs typeface="Poppins"/>
                <a:sym typeface="Poppins"/>
              </a:rPr>
              <a:t>Tooltip</a:t>
            </a:r>
          </a:p>
        </p:txBody>
      </p:sp>
      <p:sp>
        <p:nvSpPr>
          <p:cNvPr id="31" name="TextBox 31"/>
          <p:cNvSpPr txBox="1"/>
          <p:nvPr/>
        </p:nvSpPr>
        <p:spPr>
          <a:xfrm>
            <a:off x="4642639" y="7387834"/>
            <a:ext cx="894278" cy="391795"/>
          </a:xfrm>
          <a:prstGeom prst="rect">
            <a:avLst/>
          </a:prstGeom>
        </p:spPr>
        <p:txBody>
          <a:bodyPr lIns="0" tIns="0" rIns="0" bIns="0" rtlCol="0" anchor="t">
            <a:spAutoFit/>
          </a:bodyPr>
          <a:lstStyle/>
          <a:p>
            <a:pPr algn="ctr">
              <a:lnSpc>
                <a:spcPts val="3079"/>
              </a:lnSpc>
              <a:spcBef>
                <a:spcPct val="0"/>
              </a:spcBef>
            </a:pPr>
            <a:r>
              <a:rPr lang="en-US" sz="2199">
                <a:solidFill>
                  <a:srgbClr val="071436"/>
                </a:solidFill>
                <a:latin typeface="Poppins"/>
                <a:ea typeface="Poppins"/>
                <a:cs typeface="Poppins"/>
                <a:sym typeface="Poppins"/>
              </a:rPr>
              <a:t>Slicers</a:t>
            </a:r>
          </a:p>
        </p:txBody>
      </p:sp>
      <p:sp>
        <p:nvSpPr>
          <p:cNvPr id="32" name="TextBox 32"/>
          <p:cNvSpPr txBox="1"/>
          <p:nvPr/>
        </p:nvSpPr>
        <p:spPr>
          <a:xfrm>
            <a:off x="3514522" y="7947150"/>
            <a:ext cx="3405481" cy="375285"/>
          </a:xfrm>
          <a:prstGeom prst="rect">
            <a:avLst/>
          </a:prstGeom>
        </p:spPr>
        <p:txBody>
          <a:bodyPr lIns="0" tIns="0" rIns="0" bIns="0" rtlCol="0" anchor="t">
            <a:spAutoFit/>
          </a:bodyPr>
          <a:lstStyle/>
          <a:p>
            <a:pPr algn="ctr">
              <a:lnSpc>
                <a:spcPts val="2940"/>
              </a:lnSpc>
              <a:spcBef>
                <a:spcPct val="0"/>
              </a:spcBef>
            </a:pPr>
            <a:r>
              <a:rPr lang="en-US" sz="2100" dirty="0">
                <a:solidFill>
                  <a:srgbClr val="071436"/>
                </a:solidFill>
                <a:latin typeface="Poppins"/>
                <a:ea typeface="Poppins"/>
                <a:cs typeface="Poppins"/>
                <a:sym typeface="Poppins"/>
              </a:rPr>
              <a:t>Navigation buttons </a:t>
            </a:r>
          </a:p>
        </p:txBody>
      </p:sp>
      <p:sp>
        <p:nvSpPr>
          <p:cNvPr id="33" name="AutoShape 33"/>
          <p:cNvSpPr/>
          <p:nvPr/>
        </p:nvSpPr>
        <p:spPr>
          <a:xfrm>
            <a:off x="1725656" y="8947150"/>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34" name="AutoShape 34"/>
          <p:cNvSpPr/>
          <p:nvPr/>
        </p:nvSpPr>
        <p:spPr>
          <a:xfrm>
            <a:off x="1725656" y="9509125"/>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35" name="AutoShape 35"/>
          <p:cNvSpPr/>
          <p:nvPr/>
        </p:nvSpPr>
        <p:spPr>
          <a:xfrm>
            <a:off x="1696806" y="10023475"/>
            <a:ext cx="6815129" cy="0"/>
          </a:xfrm>
          <a:prstGeom prst="line">
            <a:avLst/>
          </a:prstGeom>
          <a:ln w="19050" cap="flat">
            <a:solidFill>
              <a:srgbClr val="000000"/>
            </a:solidFill>
            <a:prstDash val="solid"/>
            <a:headEnd type="none" w="sm" len="sm"/>
            <a:tailEnd type="none" w="sm" len="sm"/>
          </a:ln>
        </p:spPr>
        <p:txBody>
          <a:bodyPr/>
          <a:lstStyle/>
          <a:p>
            <a:endParaRPr lang="en-US"/>
          </a:p>
        </p:txBody>
      </p:sp>
      <p:sp>
        <p:nvSpPr>
          <p:cNvPr id="36" name="TextBox 36"/>
          <p:cNvSpPr txBox="1"/>
          <p:nvPr/>
        </p:nvSpPr>
        <p:spPr>
          <a:xfrm>
            <a:off x="1725656" y="8535041"/>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08</a:t>
            </a:r>
          </a:p>
        </p:txBody>
      </p:sp>
      <p:sp>
        <p:nvSpPr>
          <p:cNvPr id="37" name="TextBox 37"/>
          <p:cNvSpPr txBox="1"/>
          <p:nvPr/>
        </p:nvSpPr>
        <p:spPr>
          <a:xfrm>
            <a:off x="1725656" y="9061450"/>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09</a:t>
            </a:r>
          </a:p>
        </p:txBody>
      </p:sp>
      <p:sp>
        <p:nvSpPr>
          <p:cNvPr id="38" name="TextBox 38"/>
          <p:cNvSpPr txBox="1"/>
          <p:nvPr/>
        </p:nvSpPr>
        <p:spPr>
          <a:xfrm>
            <a:off x="1725656" y="9613900"/>
            <a:ext cx="874350" cy="297180"/>
          </a:xfrm>
          <a:prstGeom prst="rect">
            <a:avLst/>
          </a:prstGeom>
        </p:spPr>
        <p:txBody>
          <a:bodyPr lIns="0" tIns="0" rIns="0" bIns="0" rtlCol="0" anchor="t">
            <a:spAutoFit/>
          </a:bodyPr>
          <a:lstStyle/>
          <a:p>
            <a:pPr algn="just">
              <a:lnSpc>
                <a:spcPts val="2160"/>
              </a:lnSpc>
              <a:spcBef>
                <a:spcPct val="0"/>
              </a:spcBef>
            </a:pPr>
            <a:r>
              <a:rPr lang="en-US" sz="2000">
                <a:solidFill>
                  <a:srgbClr val="071436"/>
                </a:solidFill>
                <a:latin typeface="Poppins"/>
                <a:ea typeface="Poppins"/>
                <a:cs typeface="Poppins"/>
                <a:sym typeface="Poppins"/>
              </a:rPr>
              <a:t>10</a:t>
            </a:r>
          </a:p>
        </p:txBody>
      </p:sp>
      <p:sp>
        <p:nvSpPr>
          <p:cNvPr id="39" name="TextBox 39"/>
          <p:cNvSpPr txBox="1"/>
          <p:nvPr/>
        </p:nvSpPr>
        <p:spPr>
          <a:xfrm>
            <a:off x="4419872" y="8468367"/>
            <a:ext cx="2360935" cy="377936"/>
          </a:xfrm>
          <a:prstGeom prst="rect">
            <a:avLst/>
          </a:prstGeom>
        </p:spPr>
        <p:txBody>
          <a:bodyPr wrap="square" lIns="0" tIns="0" rIns="0" bIns="0" rtlCol="0" anchor="t">
            <a:spAutoFit/>
          </a:bodyPr>
          <a:lstStyle/>
          <a:p>
            <a:pPr algn="ctr">
              <a:lnSpc>
                <a:spcPts val="3079"/>
              </a:lnSpc>
              <a:spcBef>
                <a:spcPct val="0"/>
              </a:spcBef>
            </a:pPr>
            <a:r>
              <a:rPr lang="en-US" sz="2199" dirty="0">
                <a:solidFill>
                  <a:srgbClr val="071436"/>
                </a:solidFill>
                <a:latin typeface="Poppins"/>
                <a:ea typeface="Poppins"/>
                <a:cs typeface="Poppins"/>
                <a:sym typeface="Poppins"/>
              </a:rPr>
              <a:t>Custom map</a:t>
            </a:r>
          </a:p>
        </p:txBody>
      </p:sp>
      <p:sp>
        <p:nvSpPr>
          <p:cNvPr id="40" name="TextBox 40"/>
          <p:cNvSpPr txBox="1"/>
          <p:nvPr/>
        </p:nvSpPr>
        <p:spPr>
          <a:xfrm>
            <a:off x="4567978" y="8994331"/>
            <a:ext cx="1848564" cy="391795"/>
          </a:xfrm>
          <a:prstGeom prst="rect">
            <a:avLst/>
          </a:prstGeom>
        </p:spPr>
        <p:txBody>
          <a:bodyPr lIns="0" tIns="0" rIns="0" bIns="0" rtlCol="0" anchor="t">
            <a:spAutoFit/>
          </a:bodyPr>
          <a:lstStyle/>
          <a:p>
            <a:pPr algn="ctr">
              <a:lnSpc>
                <a:spcPts val="3079"/>
              </a:lnSpc>
              <a:spcBef>
                <a:spcPct val="0"/>
              </a:spcBef>
            </a:pPr>
            <a:r>
              <a:rPr lang="en-US" sz="2199" dirty="0">
                <a:solidFill>
                  <a:srgbClr val="071436"/>
                </a:solidFill>
                <a:latin typeface="Poppins"/>
                <a:ea typeface="Poppins"/>
                <a:cs typeface="Poppins"/>
                <a:sym typeface="Poppins"/>
              </a:rPr>
              <a:t>Measures</a:t>
            </a:r>
          </a:p>
        </p:txBody>
      </p:sp>
      <p:sp>
        <p:nvSpPr>
          <p:cNvPr id="41" name="TextBox 41"/>
          <p:cNvSpPr txBox="1"/>
          <p:nvPr/>
        </p:nvSpPr>
        <p:spPr>
          <a:xfrm>
            <a:off x="4560604" y="9537700"/>
            <a:ext cx="1830373" cy="390300"/>
          </a:xfrm>
          <a:prstGeom prst="rect">
            <a:avLst/>
          </a:prstGeom>
        </p:spPr>
        <p:txBody>
          <a:bodyPr wrap="square" lIns="0" tIns="0" rIns="0" bIns="0" rtlCol="0" anchor="t">
            <a:spAutoFit/>
          </a:bodyPr>
          <a:lstStyle/>
          <a:p>
            <a:pPr algn="ctr">
              <a:lnSpc>
                <a:spcPts val="3219"/>
              </a:lnSpc>
              <a:spcBef>
                <a:spcPct val="0"/>
              </a:spcBef>
            </a:pPr>
            <a:r>
              <a:rPr lang="en-US" sz="2299" dirty="0">
                <a:solidFill>
                  <a:srgbClr val="071436"/>
                </a:solidFill>
                <a:latin typeface="Poppins"/>
                <a:ea typeface="Poppins"/>
                <a:cs typeface="Poppins"/>
                <a:sym typeface="Poppins"/>
              </a:rPr>
              <a:t>Forecast</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grpSp>
        <p:nvGrpSpPr>
          <p:cNvPr id="7" name="Group 7"/>
          <p:cNvGrpSpPr/>
          <p:nvPr/>
        </p:nvGrpSpPr>
        <p:grpSpPr>
          <a:xfrm>
            <a:off x="253873" y="1352247"/>
            <a:ext cx="9335875" cy="6697929"/>
            <a:chOff x="0" y="0"/>
            <a:chExt cx="1622869" cy="1164311"/>
          </a:xfrm>
        </p:grpSpPr>
        <p:sp>
          <p:nvSpPr>
            <p:cNvPr id="8" name="Freeform 8"/>
            <p:cNvSpPr/>
            <p:nvPr/>
          </p:nvSpPr>
          <p:spPr>
            <a:xfrm>
              <a:off x="0" y="0"/>
              <a:ext cx="1622869" cy="1164311"/>
            </a:xfrm>
            <a:custGeom>
              <a:avLst/>
              <a:gdLst/>
              <a:ahLst/>
              <a:cxnLst/>
              <a:rect l="l" t="t" r="r" b="b"/>
              <a:pathLst>
                <a:path w="1622869" h="1164311">
                  <a:moveTo>
                    <a:pt x="0" y="0"/>
                  </a:moveTo>
                  <a:lnTo>
                    <a:pt x="1622869" y="0"/>
                  </a:lnTo>
                  <a:lnTo>
                    <a:pt x="1622869" y="1164311"/>
                  </a:lnTo>
                  <a:lnTo>
                    <a:pt x="0" y="1164311"/>
                  </a:lnTo>
                  <a:close/>
                </a:path>
              </a:pathLst>
            </a:custGeom>
            <a:blipFill>
              <a:blip r:embed="rId2"/>
              <a:stretch>
                <a:fillRect t="-380" b="-380"/>
              </a:stretch>
            </a:blipFill>
          </p:spPr>
          <p:txBody>
            <a:bodyPr/>
            <a:lstStyle/>
            <a:p>
              <a:endParaRPr lang="en-US"/>
            </a:p>
          </p:txBody>
        </p:sp>
      </p:grpSp>
      <p:sp>
        <p:nvSpPr>
          <p:cNvPr id="9" name="AutoShape 9"/>
          <p:cNvSpPr/>
          <p:nvPr/>
        </p:nvSpPr>
        <p:spPr>
          <a:xfrm flipV="1">
            <a:off x="9729600" y="1602885"/>
            <a:ext cx="0" cy="8079938"/>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10" name="Group 10"/>
          <p:cNvGrpSpPr/>
          <p:nvPr/>
        </p:nvGrpSpPr>
        <p:grpSpPr>
          <a:xfrm>
            <a:off x="9869452" y="1028700"/>
            <a:ext cx="8011774" cy="4531965"/>
            <a:chOff x="0" y="0"/>
            <a:chExt cx="1241233" cy="702120"/>
          </a:xfrm>
        </p:grpSpPr>
        <p:sp>
          <p:nvSpPr>
            <p:cNvPr id="11" name="Freeform 11"/>
            <p:cNvSpPr/>
            <p:nvPr/>
          </p:nvSpPr>
          <p:spPr>
            <a:xfrm>
              <a:off x="0" y="0"/>
              <a:ext cx="1241233" cy="702120"/>
            </a:xfrm>
            <a:custGeom>
              <a:avLst/>
              <a:gdLst/>
              <a:ahLst/>
              <a:cxnLst/>
              <a:rect l="l" t="t" r="r" b="b"/>
              <a:pathLst>
                <a:path w="1241233" h="702120">
                  <a:moveTo>
                    <a:pt x="0" y="0"/>
                  </a:moveTo>
                  <a:lnTo>
                    <a:pt x="1241233" y="0"/>
                  </a:lnTo>
                  <a:lnTo>
                    <a:pt x="1241233" y="702120"/>
                  </a:lnTo>
                  <a:lnTo>
                    <a:pt x="0" y="702120"/>
                  </a:lnTo>
                  <a:close/>
                </a:path>
              </a:pathLst>
            </a:custGeom>
            <a:blipFill>
              <a:blip r:embed="rId3"/>
              <a:stretch>
                <a:fillRect t="-3974" b="-3974"/>
              </a:stretch>
            </a:blipFill>
          </p:spPr>
          <p:txBody>
            <a:bodyPr/>
            <a:lstStyle/>
            <a:p>
              <a:endParaRPr lang="en-US"/>
            </a:p>
          </p:txBody>
        </p:sp>
      </p:grpSp>
      <p:grpSp>
        <p:nvGrpSpPr>
          <p:cNvPr id="12" name="Group 12"/>
          <p:cNvGrpSpPr/>
          <p:nvPr/>
        </p:nvGrpSpPr>
        <p:grpSpPr>
          <a:xfrm>
            <a:off x="9869452" y="5714862"/>
            <a:ext cx="8011774" cy="4572138"/>
            <a:chOff x="0" y="0"/>
            <a:chExt cx="1241233" cy="708344"/>
          </a:xfrm>
        </p:grpSpPr>
        <p:sp>
          <p:nvSpPr>
            <p:cNvPr id="13" name="Freeform 13"/>
            <p:cNvSpPr/>
            <p:nvPr/>
          </p:nvSpPr>
          <p:spPr>
            <a:xfrm>
              <a:off x="0" y="0"/>
              <a:ext cx="1241233" cy="708344"/>
            </a:xfrm>
            <a:custGeom>
              <a:avLst/>
              <a:gdLst/>
              <a:ahLst/>
              <a:cxnLst/>
              <a:rect l="l" t="t" r="r" b="b"/>
              <a:pathLst>
                <a:path w="1241233" h="708344">
                  <a:moveTo>
                    <a:pt x="0" y="0"/>
                  </a:moveTo>
                  <a:lnTo>
                    <a:pt x="1241233" y="0"/>
                  </a:lnTo>
                  <a:lnTo>
                    <a:pt x="1241233" y="708344"/>
                  </a:lnTo>
                  <a:lnTo>
                    <a:pt x="0" y="708344"/>
                  </a:lnTo>
                  <a:close/>
                </a:path>
              </a:pathLst>
            </a:custGeom>
            <a:blipFill>
              <a:blip r:embed="rId4"/>
              <a:stretch>
                <a:fillRect t="-3500" b="-3500"/>
              </a:stretch>
            </a:blipFill>
          </p:spPr>
          <p:txBody>
            <a:bodyPr/>
            <a:lstStyle/>
            <a:p>
              <a:endParaRPr lang="en-US"/>
            </a:p>
          </p:txBody>
        </p:sp>
      </p:grpSp>
      <p:sp>
        <p:nvSpPr>
          <p:cNvPr id="14" name="TextBox 14"/>
          <p:cNvSpPr txBox="1"/>
          <p:nvPr/>
        </p:nvSpPr>
        <p:spPr>
          <a:xfrm>
            <a:off x="626760" y="270125"/>
            <a:ext cx="10302123" cy="758575"/>
          </a:xfrm>
          <a:prstGeom prst="rect">
            <a:avLst/>
          </a:prstGeom>
        </p:spPr>
        <p:txBody>
          <a:bodyPr lIns="0" tIns="0" rIns="0" bIns="0" rtlCol="0" anchor="t">
            <a:spAutoFit/>
          </a:bodyPr>
          <a:lstStyle/>
          <a:p>
            <a:pPr algn="l">
              <a:lnSpc>
                <a:spcPts val="5832"/>
              </a:lnSpc>
            </a:pPr>
            <a:r>
              <a:rPr lang="en-US" sz="5400">
                <a:solidFill>
                  <a:srgbClr val="FFFFFF"/>
                </a:solidFill>
                <a:latin typeface="Anton"/>
                <a:ea typeface="Anton"/>
                <a:cs typeface="Anton"/>
                <a:sym typeface="Anton"/>
              </a:rPr>
              <a:t>CUSTOMIZED FIGMA BACKGROUND </a:t>
            </a:r>
          </a:p>
        </p:txBody>
      </p:sp>
      <p:sp>
        <p:nvSpPr>
          <p:cNvPr id="15" name="TextBox 15"/>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16</a:t>
            </a:r>
          </a:p>
        </p:txBody>
      </p:sp>
      <p:sp>
        <p:nvSpPr>
          <p:cNvPr id="16" name="TextBox 16"/>
          <p:cNvSpPr txBox="1"/>
          <p:nvPr/>
        </p:nvSpPr>
        <p:spPr>
          <a:xfrm>
            <a:off x="11081283" y="270125"/>
            <a:ext cx="5588111" cy="758575"/>
          </a:xfrm>
          <a:prstGeom prst="rect">
            <a:avLst/>
          </a:prstGeom>
        </p:spPr>
        <p:txBody>
          <a:bodyPr lIns="0" tIns="0" rIns="0" bIns="0" rtlCol="0" anchor="t">
            <a:spAutoFit/>
          </a:bodyPr>
          <a:lstStyle/>
          <a:p>
            <a:pPr algn="l">
              <a:lnSpc>
                <a:spcPts val="5832"/>
              </a:lnSpc>
            </a:pPr>
            <a:r>
              <a:rPr lang="en-US" sz="5400">
                <a:solidFill>
                  <a:srgbClr val="FFFFFF"/>
                </a:solidFill>
                <a:latin typeface="Anton"/>
                <a:ea typeface="Anton"/>
                <a:cs typeface="Anton"/>
                <a:sym typeface="Anton"/>
              </a:rPr>
              <a:t>DARK VS LIGHT MODE</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7" name="AutoShape 7"/>
          <p:cNvSpPr/>
          <p:nvPr/>
        </p:nvSpPr>
        <p:spPr>
          <a:xfrm flipV="1">
            <a:off x="7999050" y="1115358"/>
            <a:ext cx="0" cy="8079938"/>
          </a:xfrm>
          <a:prstGeom prst="line">
            <a:avLst/>
          </a:prstGeom>
          <a:ln w="19050" cap="flat">
            <a:solidFill>
              <a:srgbClr val="000000"/>
            </a:solidFill>
            <a:prstDash val="solid"/>
            <a:headEnd type="none" w="sm" len="sm"/>
            <a:tailEnd type="none" w="sm" len="sm"/>
          </a:ln>
        </p:spPr>
        <p:txBody>
          <a:bodyPr/>
          <a:lstStyle/>
          <a:p>
            <a:endParaRPr lang="en-US"/>
          </a:p>
        </p:txBody>
      </p:sp>
      <p:sp>
        <p:nvSpPr>
          <p:cNvPr id="8" name="Freeform 8"/>
          <p:cNvSpPr/>
          <p:nvPr/>
        </p:nvSpPr>
        <p:spPr>
          <a:xfrm>
            <a:off x="253873" y="1674495"/>
            <a:ext cx="7669561" cy="3798633"/>
          </a:xfrm>
          <a:custGeom>
            <a:avLst/>
            <a:gdLst/>
            <a:ahLst/>
            <a:cxnLst/>
            <a:rect l="l" t="t" r="r" b="b"/>
            <a:pathLst>
              <a:path w="7669561" h="3798633">
                <a:moveTo>
                  <a:pt x="0" y="0"/>
                </a:moveTo>
                <a:lnTo>
                  <a:pt x="7669560" y="0"/>
                </a:lnTo>
                <a:lnTo>
                  <a:pt x="7669560" y="3798633"/>
                </a:lnTo>
                <a:lnTo>
                  <a:pt x="0" y="3798633"/>
                </a:lnTo>
                <a:lnTo>
                  <a:pt x="0" y="0"/>
                </a:lnTo>
                <a:close/>
              </a:path>
            </a:pathLst>
          </a:custGeom>
          <a:blipFill>
            <a:blip r:embed="rId2"/>
            <a:stretch>
              <a:fillRect t="-2212" b="-2212"/>
            </a:stretch>
          </a:blipFill>
        </p:spPr>
        <p:txBody>
          <a:bodyPr/>
          <a:lstStyle/>
          <a:p>
            <a:endParaRPr lang="en-US"/>
          </a:p>
        </p:txBody>
      </p:sp>
      <p:sp>
        <p:nvSpPr>
          <p:cNvPr id="9" name="Freeform 9"/>
          <p:cNvSpPr/>
          <p:nvPr/>
        </p:nvSpPr>
        <p:spPr>
          <a:xfrm>
            <a:off x="6262232" y="5469470"/>
            <a:ext cx="1506125" cy="4209696"/>
          </a:xfrm>
          <a:custGeom>
            <a:avLst/>
            <a:gdLst/>
            <a:ahLst/>
            <a:cxnLst/>
            <a:rect l="l" t="t" r="r" b="b"/>
            <a:pathLst>
              <a:path w="1506125" h="4209696">
                <a:moveTo>
                  <a:pt x="0" y="0"/>
                </a:moveTo>
                <a:lnTo>
                  <a:pt x="1506125" y="0"/>
                </a:lnTo>
                <a:lnTo>
                  <a:pt x="1506125" y="4209695"/>
                </a:lnTo>
                <a:lnTo>
                  <a:pt x="0" y="4209695"/>
                </a:lnTo>
                <a:lnTo>
                  <a:pt x="0" y="0"/>
                </a:lnTo>
                <a:close/>
              </a:path>
            </a:pathLst>
          </a:custGeom>
          <a:blipFill>
            <a:blip r:embed="rId3"/>
            <a:stretch>
              <a:fillRect r="-966" b="-14878"/>
            </a:stretch>
          </a:blipFill>
        </p:spPr>
        <p:txBody>
          <a:bodyPr/>
          <a:lstStyle/>
          <a:p>
            <a:endParaRPr lang="en-US"/>
          </a:p>
        </p:txBody>
      </p:sp>
      <p:sp>
        <p:nvSpPr>
          <p:cNvPr id="10" name="Freeform 10"/>
          <p:cNvSpPr/>
          <p:nvPr/>
        </p:nvSpPr>
        <p:spPr>
          <a:xfrm>
            <a:off x="8398941" y="1674495"/>
            <a:ext cx="5330471" cy="3326447"/>
          </a:xfrm>
          <a:custGeom>
            <a:avLst/>
            <a:gdLst/>
            <a:ahLst/>
            <a:cxnLst/>
            <a:rect l="l" t="t" r="r" b="b"/>
            <a:pathLst>
              <a:path w="5330471" h="3326447">
                <a:moveTo>
                  <a:pt x="0" y="0"/>
                </a:moveTo>
                <a:lnTo>
                  <a:pt x="5330471" y="0"/>
                </a:lnTo>
                <a:lnTo>
                  <a:pt x="5330471" y="3326447"/>
                </a:lnTo>
                <a:lnTo>
                  <a:pt x="0" y="3326447"/>
                </a:lnTo>
                <a:lnTo>
                  <a:pt x="0" y="0"/>
                </a:lnTo>
                <a:close/>
              </a:path>
            </a:pathLst>
          </a:custGeom>
          <a:blipFill>
            <a:blip r:embed="rId4"/>
            <a:stretch>
              <a:fillRect/>
            </a:stretch>
          </a:blipFill>
        </p:spPr>
        <p:txBody>
          <a:bodyPr/>
          <a:lstStyle/>
          <a:p>
            <a:endParaRPr lang="en-US"/>
          </a:p>
        </p:txBody>
      </p:sp>
      <p:sp>
        <p:nvSpPr>
          <p:cNvPr id="11" name="Freeform 11"/>
          <p:cNvSpPr/>
          <p:nvPr/>
        </p:nvSpPr>
        <p:spPr>
          <a:xfrm>
            <a:off x="11990239" y="5000942"/>
            <a:ext cx="5707731" cy="3466964"/>
          </a:xfrm>
          <a:custGeom>
            <a:avLst/>
            <a:gdLst/>
            <a:ahLst/>
            <a:cxnLst/>
            <a:rect l="l" t="t" r="r" b="b"/>
            <a:pathLst>
              <a:path w="5707731" h="3466964">
                <a:moveTo>
                  <a:pt x="0" y="0"/>
                </a:moveTo>
                <a:lnTo>
                  <a:pt x="5707731" y="0"/>
                </a:lnTo>
                <a:lnTo>
                  <a:pt x="5707731" y="3466964"/>
                </a:lnTo>
                <a:lnTo>
                  <a:pt x="0" y="3466964"/>
                </a:lnTo>
                <a:lnTo>
                  <a:pt x="0" y="0"/>
                </a:lnTo>
                <a:close/>
              </a:path>
            </a:pathLst>
          </a:custGeom>
          <a:blipFill>
            <a:blip r:embed="rId5"/>
            <a:stretch>
              <a:fillRect/>
            </a:stretch>
          </a:blipFill>
        </p:spPr>
        <p:txBody>
          <a:bodyPr/>
          <a:lstStyle/>
          <a:p>
            <a:endParaRPr lang="en-US"/>
          </a:p>
        </p:txBody>
      </p:sp>
      <p:sp>
        <p:nvSpPr>
          <p:cNvPr id="12" name="Freeform 12"/>
          <p:cNvSpPr/>
          <p:nvPr/>
        </p:nvSpPr>
        <p:spPr>
          <a:xfrm>
            <a:off x="13945751" y="2607867"/>
            <a:ext cx="3588799" cy="2233588"/>
          </a:xfrm>
          <a:custGeom>
            <a:avLst/>
            <a:gdLst/>
            <a:ahLst/>
            <a:cxnLst/>
            <a:rect l="l" t="t" r="r" b="b"/>
            <a:pathLst>
              <a:path w="3588799" h="2233588">
                <a:moveTo>
                  <a:pt x="0" y="0"/>
                </a:moveTo>
                <a:lnTo>
                  <a:pt x="3588798" y="0"/>
                </a:lnTo>
                <a:lnTo>
                  <a:pt x="3588798" y="2233588"/>
                </a:lnTo>
                <a:lnTo>
                  <a:pt x="0" y="2233588"/>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598629" y="478155"/>
            <a:ext cx="4653788"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BOOKMARK</a:t>
            </a:r>
          </a:p>
        </p:txBody>
      </p:sp>
      <p:sp>
        <p:nvSpPr>
          <p:cNvPr id="14" name="TextBox 14"/>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17</a:t>
            </a:r>
          </a:p>
        </p:txBody>
      </p:sp>
      <p:sp>
        <p:nvSpPr>
          <p:cNvPr id="15" name="TextBox 15"/>
          <p:cNvSpPr txBox="1"/>
          <p:nvPr/>
        </p:nvSpPr>
        <p:spPr>
          <a:xfrm>
            <a:off x="8566414" y="478155"/>
            <a:ext cx="3090711"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FILTERS</a:t>
            </a:r>
          </a:p>
        </p:txBody>
      </p:sp>
      <p:sp>
        <p:nvSpPr>
          <p:cNvPr id="16" name="TextBox 16"/>
          <p:cNvSpPr txBox="1"/>
          <p:nvPr/>
        </p:nvSpPr>
        <p:spPr>
          <a:xfrm>
            <a:off x="551933" y="5546234"/>
            <a:ext cx="5479606" cy="1172180"/>
          </a:xfrm>
          <a:prstGeom prst="rect">
            <a:avLst/>
          </a:prstGeom>
        </p:spPr>
        <p:txBody>
          <a:bodyPr wrap="square" lIns="0" tIns="0" rIns="0" bIns="0" rtlCol="0" anchor="t">
            <a:spAutoFit/>
          </a:bodyPr>
          <a:lstStyle/>
          <a:p>
            <a:pPr algn="ctr">
              <a:lnSpc>
                <a:spcPts val="3079"/>
              </a:lnSpc>
              <a:spcBef>
                <a:spcPct val="0"/>
              </a:spcBef>
            </a:pPr>
            <a:r>
              <a:rPr lang="en-US" sz="2199" b="1" dirty="0">
                <a:solidFill>
                  <a:srgbClr val="071436"/>
                </a:solidFill>
                <a:latin typeface="Poppins Bold"/>
                <a:ea typeface="Poppins Bold"/>
                <a:cs typeface="Poppins Bold"/>
                <a:sym typeface="Poppins Bold"/>
              </a:rPr>
              <a:t>⟶ we created Bookmarks to make it easy to navigate between different dashboard views and sections.</a:t>
            </a:r>
          </a:p>
        </p:txBody>
      </p:sp>
      <p:sp>
        <p:nvSpPr>
          <p:cNvPr id="17" name="TextBox 17"/>
          <p:cNvSpPr txBox="1"/>
          <p:nvPr/>
        </p:nvSpPr>
        <p:spPr>
          <a:xfrm>
            <a:off x="8376196" y="5229897"/>
            <a:ext cx="3246422" cy="2344420"/>
          </a:xfrm>
          <a:prstGeom prst="rect">
            <a:avLst/>
          </a:prstGeom>
        </p:spPr>
        <p:txBody>
          <a:bodyPr lIns="0" tIns="0" rIns="0" bIns="0" rtlCol="0" anchor="t">
            <a:spAutoFit/>
          </a:bodyPr>
          <a:lstStyle/>
          <a:p>
            <a:pPr algn="ctr">
              <a:lnSpc>
                <a:spcPts val="3079"/>
              </a:lnSpc>
              <a:spcBef>
                <a:spcPct val="0"/>
              </a:spcBef>
            </a:pPr>
            <a:r>
              <a:rPr lang="en-US" sz="2199" b="1" dirty="0">
                <a:solidFill>
                  <a:srgbClr val="071436"/>
                </a:solidFill>
                <a:latin typeface="Poppins Bold"/>
                <a:ea typeface="Poppins Bold"/>
                <a:cs typeface="Poppins Bold"/>
                <a:sym typeface="Poppins Bold"/>
              </a:rPr>
              <a:t> ⟶ we created Filters to Allow users to select a specific Governorate and explore its analysis across different years.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7" name="Freeform 7"/>
          <p:cNvSpPr/>
          <p:nvPr/>
        </p:nvSpPr>
        <p:spPr>
          <a:xfrm>
            <a:off x="180300" y="2429170"/>
            <a:ext cx="7769725" cy="6106574"/>
          </a:xfrm>
          <a:custGeom>
            <a:avLst/>
            <a:gdLst/>
            <a:ahLst/>
            <a:cxnLst/>
            <a:rect l="l" t="t" r="r" b="b"/>
            <a:pathLst>
              <a:path w="8190696" h="4811898">
                <a:moveTo>
                  <a:pt x="0" y="0"/>
                </a:moveTo>
                <a:lnTo>
                  <a:pt x="8190696" y="0"/>
                </a:lnTo>
                <a:lnTo>
                  <a:pt x="8190696" y="4811898"/>
                </a:lnTo>
                <a:lnTo>
                  <a:pt x="0" y="4811898"/>
                </a:lnTo>
                <a:lnTo>
                  <a:pt x="0" y="0"/>
                </a:lnTo>
                <a:close/>
              </a:path>
            </a:pathLst>
          </a:custGeom>
          <a:blipFill>
            <a:blip r:embed="rId2"/>
            <a:stretch>
              <a:fillRect l="-2003" r="-2003" b="-751"/>
            </a:stretch>
          </a:blipFill>
        </p:spPr>
        <p:txBody>
          <a:bodyPr/>
          <a:lstStyle/>
          <a:p>
            <a:endParaRPr lang="en-US"/>
          </a:p>
        </p:txBody>
      </p:sp>
      <p:sp>
        <p:nvSpPr>
          <p:cNvPr id="8" name="Freeform 8"/>
          <p:cNvSpPr/>
          <p:nvPr/>
        </p:nvSpPr>
        <p:spPr>
          <a:xfrm>
            <a:off x="8139294" y="2429170"/>
            <a:ext cx="9843431" cy="6106574"/>
          </a:xfrm>
          <a:custGeom>
            <a:avLst/>
            <a:gdLst/>
            <a:ahLst/>
            <a:cxnLst/>
            <a:rect l="l" t="t" r="r" b="b"/>
            <a:pathLst>
              <a:path w="9843431" h="5707682">
                <a:moveTo>
                  <a:pt x="0" y="0"/>
                </a:moveTo>
                <a:lnTo>
                  <a:pt x="9843432" y="0"/>
                </a:lnTo>
                <a:lnTo>
                  <a:pt x="9843432" y="5707682"/>
                </a:lnTo>
                <a:lnTo>
                  <a:pt x="0" y="5707682"/>
                </a:lnTo>
                <a:lnTo>
                  <a:pt x="0" y="0"/>
                </a:lnTo>
                <a:close/>
              </a:path>
            </a:pathLst>
          </a:custGeom>
          <a:blipFill>
            <a:blip r:embed="rId3"/>
            <a:stretch>
              <a:fillRect/>
            </a:stretch>
          </a:blipFill>
        </p:spPr>
        <p:txBody>
          <a:bodyPr/>
          <a:lstStyle/>
          <a:p>
            <a:endParaRPr lang="en-US" dirty="0"/>
          </a:p>
        </p:txBody>
      </p:sp>
      <p:sp>
        <p:nvSpPr>
          <p:cNvPr id="9" name="TextBox 9"/>
          <p:cNvSpPr txBox="1"/>
          <p:nvPr/>
        </p:nvSpPr>
        <p:spPr>
          <a:xfrm>
            <a:off x="4357457" y="192405"/>
            <a:ext cx="7519429"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DRILL THROUGH </a:t>
            </a:r>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18</a:t>
            </a:r>
          </a:p>
        </p:txBody>
      </p:sp>
      <p:sp>
        <p:nvSpPr>
          <p:cNvPr id="11" name="TextBox 11"/>
          <p:cNvSpPr txBox="1"/>
          <p:nvPr/>
        </p:nvSpPr>
        <p:spPr>
          <a:xfrm>
            <a:off x="30999" y="1065241"/>
            <a:ext cx="18257001" cy="744435"/>
          </a:xfrm>
          <a:prstGeom prst="rect">
            <a:avLst/>
          </a:prstGeom>
        </p:spPr>
        <p:txBody>
          <a:bodyPr wrap="square" lIns="0" tIns="0" rIns="0" bIns="0" rtlCol="0" anchor="t">
            <a:spAutoFit/>
          </a:bodyPr>
          <a:lstStyle/>
          <a:p>
            <a:pPr algn="ctr">
              <a:lnSpc>
                <a:spcPts val="2728"/>
              </a:lnSpc>
              <a:spcBef>
                <a:spcPct val="0"/>
              </a:spcBef>
            </a:pPr>
            <a:endParaRPr dirty="0"/>
          </a:p>
          <a:p>
            <a:pPr algn="ctr">
              <a:lnSpc>
                <a:spcPts val="3288"/>
              </a:lnSpc>
              <a:spcBef>
                <a:spcPct val="0"/>
              </a:spcBef>
            </a:pPr>
            <a:r>
              <a:rPr lang="en-US" sz="2348" b="1" dirty="0">
                <a:solidFill>
                  <a:srgbClr val="071436"/>
                </a:solidFill>
                <a:latin typeface="Poppins Bold"/>
                <a:ea typeface="Poppins Bold"/>
                <a:cs typeface="Poppins Bold"/>
                <a:sym typeface="Poppins Bold"/>
              </a:rPr>
              <a:t>⟶ Drill-through functionality provides a detailed view of accident patterns and statistics for the selected governorate.</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7" name="Freeform 7"/>
          <p:cNvSpPr/>
          <p:nvPr/>
        </p:nvSpPr>
        <p:spPr>
          <a:xfrm>
            <a:off x="10668000" y="3390900"/>
            <a:ext cx="6169525" cy="3211605"/>
          </a:xfrm>
          <a:custGeom>
            <a:avLst/>
            <a:gdLst/>
            <a:ahLst/>
            <a:cxnLst/>
            <a:rect l="l" t="t" r="r" b="b"/>
            <a:pathLst>
              <a:path w="8190696" h="3211605">
                <a:moveTo>
                  <a:pt x="0" y="0"/>
                </a:moveTo>
                <a:lnTo>
                  <a:pt x="8190696" y="0"/>
                </a:lnTo>
                <a:lnTo>
                  <a:pt x="8190696" y="3211605"/>
                </a:lnTo>
                <a:lnTo>
                  <a:pt x="0" y="3211605"/>
                </a:lnTo>
                <a:lnTo>
                  <a:pt x="0" y="0"/>
                </a:lnTo>
                <a:close/>
              </a:path>
            </a:pathLst>
          </a:custGeom>
          <a:blipFill>
            <a:blip r:embed="rId2"/>
            <a:stretch>
              <a:fillRect l="-3144" r="-3144" b="-49828"/>
            </a:stretch>
          </a:blipFill>
        </p:spPr>
        <p:txBody>
          <a:bodyPr/>
          <a:lstStyle/>
          <a:p>
            <a:endParaRPr lang="en-US"/>
          </a:p>
        </p:txBody>
      </p:sp>
      <p:sp>
        <p:nvSpPr>
          <p:cNvPr id="8" name="Freeform 8"/>
          <p:cNvSpPr/>
          <p:nvPr/>
        </p:nvSpPr>
        <p:spPr>
          <a:xfrm>
            <a:off x="275995" y="2171495"/>
            <a:ext cx="9848502" cy="6651641"/>
          </a:xfrm>
          <a:custGeom>
            <a:avLst/>
            <a:gdLst/>
            <a:ahLst/>
            <a:cxnLst/>
            <a:rect l="l" t="t" r="r" b="b"/>
            <a:pathLst>
              <a:path w="9848502" h="6651641">
                <a:moveTo>
                  <a:pt x="0" y="0"/>
                </a:moveTo>
                <a:lnTo>
                  <a:pt x="9848502" y="0"/>
                </a:lnTo>
                <a:lnTo>
                  <a:pt x="9848502" y="6651641"/>
                </a:lnTo>
                <a:lnTo>
                  <a:pt x="0" y="6651641"/>
                </a:lnTo>
                <a:lnTo>
                  <a:pt x="0" y="0"/>
                </a:lnTo>
                <a:close/>
              </a:path>
            </a:pathLst>
          </a:custGeom>
          <a:blipFill>
            <a:blip r:embed="rId3"/>
            <a:stretch>
              <a:fillRect/>
            </a:stretch>
          </a:blipFill>
        </p:spPr>
        <p:txBody>
          <a:bodyPr/>
          <a:lstStyle/>
          <a:p>
            <a:endParaRPr lang="en-US"/>
          </a:p>
        </p:txBody>
      </p:sp>
      <p:sp>
        <p:nvSpPr>
          <p:cNvPr id="9" name="TextBox 9"/>
          <p:cNvSpPr txBox="1"/>
          <p:nvPr/>
        </p:nvSpPr>
        <p:spPr>
          <a:xfrm>
            <a:off x="4357457" y="192405"/>
            <a:ext cx="5621407"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TOOLTIP</a:t>
            </a:r>
          </a:p>
        </p:txBody>
      </p:sp>
      <p:sp>
        <p:nvSpPr>
          <p:cNvPr id="10" name="TextBox 10"/>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19</a:t>
            </a:r>
          </a:p>
        </p:txBody>
      </p:sp>
      <p:sp>
        <p:nvSpPr>
          <p:cNvPr id="11" name="TextBox 11"/>
          <p:cNvSpPr txBox="1"/>
          <p:nvPr/>
        </p:nvSpPr>
        <p:spPr>
          <a:xfrm>
            <a:off x="-73525" y="1136876"/>
            <a:ext cx="17811254" cy="901081"/>
          </a:xfrm>
          <a:prstGeom prst="rect">
            <a:avLst/>
          </a:prstGeom>
        </p:spPr>
        <p:txBody>
          <a:bodyPr wrap="square" lIns="0" tIns="0" rIns="0" bIns="0" rtlCol="0" anchor="t">
            <a:spAutoFit/>
          </a:bodyPr>
          <a:lstStyle/>
          <a:p>
            <a:pPr algn="ctr">
              <a:lnSpc>
                <a:spcPts val="3633"/>
              </a:lnSpc>
              <a:spcBef>
                <a:spcPct val="0"/>
              </a:spcBef>
            </a:pPr>
            <a:r>
              <a:rPr lang="en-US" sz="2595" b="1" dirty="0">
                <a:solidFill>
                  <a:srgbClr val="071436"/>
                </a:solidFill>
                <a:latin typeface="Poppins Bold"/>
                <a:ea typeface="Poppins Bold"/>
                <a:cs typeface="Poppins Bold"/>
                <a:sym typeface="Poppins Bold"/>
              </a:rPr>
              <a:t>⟶ Custom Tooltip: Provides additional context on the yearly total of affected individuals by showing their distribution across different road user categories without adding extra visuals to the main dashboard.</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8" name="Freeform 8"/>
          <p:cNvSpPr/>
          <p:nvPr/>
        </p:nvSpPr>
        <p:spPr>
          <a:xfrm>
            <a:off x="253872" y="2413119"/>
            <a:ext cx="11252328" cy="6501768"/>
          </a:xfrm>
          <a:custGeom>
            <a:avLst/>
            <a:gdLst/>
            <a:ahLst/>
            <a:cxnLst/>
            <a:rect l="l" t="t" r="r" b="b"/>
            <a:pathLst>
              <a:path w="7560560" h="4690661">
                <a:moveTo>
                  <a:pt x="0" y="0"/>
                </a:moveTo>
                <a:lnTo>
                  <a:pt x="7560560" y="0"/>
                </a:lnTo>
                <a:lnTo>
                  <a:pt x="7560560" y="4690661"/>
                </a:lnTo>
                <a:lnTo>
                  <a:pt x="0" y="4690661"/>
                </a:lnTo>
                <a:lnTo>
                  <a:pt x="0" y="0"/>
                </a:lnTo>
                <a:close/>
              </a:path>
            </a:pathLst>
          </a:custGeom>
          <a:blipFill>
            <a:blip r:embed="rId2"/>
            <a:stretch>
              <a:fillRect/>
            </a:stretch>
          </a:blipFill>
        </p:spPr>
        <p:txBody>
          <a:bodyPr/>
          <a:lstStyle/>
          <a:p>
            <a:endParaRPr lang="en-US"/>
          </a:p>
        </p:txBody>
      </p:sp>
      <p:sp>
        <p:nvSpPr>
          <p:cNvPr id="9" name="Freeform 9"/>
          <p:cNvSpPr/>
          <p:nvPr/>
        </p:nvSpPr>
        <p:spPr>
          <a:xfrm>
            <a:off x="11658600" y="3182391"/>
            <a:ext cx="6096000" cy="4323309"/>
          </a:xfrm>
          <a:custGeom>
            <a:avLst/>
            <a:gdLst/>
            <a:ahLst/>
            <a:cxnLst/>
            <a:rect l="l" t="t" r="r" b="b"/>
            <a:pathLst>
              <a:path w="5498432" h="3091158">
                <a:moveTo>
                  <a:pt x="0" y="0"/>
                </a:moveTo>
                <a:lnTo>
                  <a:pt x="5498432" y="0"/>
                </a:lnTo>
                <a:lnTo>
                  <a:pt x="5498432" y="3091158"/>
                </a:lnTo>
                <a:lnTo>
                  <a:pt x="0" y="309115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4357457" y="192405"/>
            <a:ext cx="8938749"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CUSTOME SHAPE MAP</a:t>
            </a:r>
          </a:p>
        </p:txBody>
      </p:sp>
      <p:sp>
        <p:nvSpPr>
          <p:cNvPr id="11" name="TextBox 11"/>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20</a:t>
            </a:r>
          </a:p>
        </p:txBody>
      </p:sp>
      <p:sp>
        <p:nvSpPr>
          <p:cNvPr id="12" name="TextBox 12"/>
          <p:cNvSpPr txBox="1"/>
          <p:nvPr/>
        </p:nvSpPr>
        <p:spPr>
          <a:xfrm>
            <a:off x="77704" y="1305792"/>
            <a:ext cx="18210296" cy="849656"/>
          </a:xfrm>
          <a:prstGeom prst="rect">
            <a:avLst/>
          </a:prstGeom>
        </p:spPr>
        <p:txBody>
          <a:bodyPr wrap="square" lIns="0" tIns="0" rIns="0" bIns="0" rtlCol="0" anchor="t">
            <a:spAutoFit/>
          </a:bodyPr>
          <a:lstStyle/>
          <a:p>
            <a:pPr>
              <a:lnSpc>
                <a:spcPts val="3378"/>
              </a:lnSpc>
              <a:spcBef>
                <a:spcPct val="0"/>
              </a:spcBef>
            </a:pPr>
            <a:r>
              <a:rPr lang="en-US" sz="2413" b="1" dirty="0">
                <a:solidFill>
                  <a:srgbClr val="071436"/>
                </a:solidFill>
                <a:latin typeface="Poppins Bold"/>
                <a:ea typeface="Poppins Bold"/>
                <a:cs typeface="Poppins Bold"/>
                <a:sym typeface="Poppins Bold"/>
              </a:rPr>
              <a:t>⟶ Custom Shape Map: Built a customized geographic map by preparing and integrating a </a:t>
            </a:r>
            <a:r>
              <a:rPr lang="en-US" sz="2413" b="1" dirty="0" err="1">
                <a:solidFill>
                  <a:srgbClr val="071436"/>
                </a:solidFill>
                <a:latin typeface="Poppins Bold"/>
                <a:ea typeface="Poppins Bold"/>
                <a:cs typeface="Poppins Bold"/>
                <a:sym typeface="Poppins Bold"/>
              </a:rPr>
              <a:t>GeoJSON</a:t>
            </a:r>
            <a:r>
              <a:rPr lang="en-US" sz="2413" b="1" dirty="0">
                <a:solidFill>
                  <a:srgbClr val="071436"/>
                </a:solidFill>
                <a:latin typeface="Poppins Bold"/>
                <a:ea typeface="Poppins Bold"/>
                <a:cs typeface="Poppins Bold"/>
                <a:sym typeface="Poppins Bold"/>
              </a:rPr>
              <a:t> file for Egyptian governorates, allowing the dashboard to display and analyze accident data at the governorate level.</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grpSp>
        <p:nvGrpSpPr>
          <p:cNvPr id="7" name="Group 7"/>
          <p:cNvGrpSpPr/>
          <p:nvPr/>
        </p:nvGrpSpPr>
        <p:grpSpPr>
          <a:xfrm>
            <a:off x="476746" y="1517638"/>
            <a:ext cx="5619254" cy="3210568"/>
            <a:chOff x="0" y="0"/>
            <a:chExt cx="658874" cy="320688"/>
          </a:xfrm>
        </p:grpSpPr>
        <p:sp>
          <p:nvSpPr>
            <p:cNvPr id="8" name="Freeform 8"/>
            <p:cNvSpPr/>
            <p:nvPr/>
          </p:nvSpPr>
          <p:spPr>
            <a:xfrm>
              <a:off x="0" y="0"/>
              <a:ext cx="658874" cy="320688"/>
            </a:xfrm>
            <a:custGeom>
              <a:avLst/>
              <a:gdLst/>
              <a:ahLst/>
              <a:cxnLst/>
              <a:rect l="l" t="t" r="r" b="b"/>
              <a:pathLst>
                <a:path w="658874" h="320688">
                  <a:moveTo>
                    <a:pt x="0" y="0"/>
                  </a:moveTo>
                  <a:lnTo>
                    <a:pt x="658874" y="0"/>
                  </a:lnTo>
                  <a:lnTo>
                    <a:pt x="658874" y="320688"/>
                  </a:lnTo>
                  <a:lnTo>
                    <a:pt x="0" y="320688"/>
                  </a:lnTo>
                  <a:close/>
                </a:path>
              </a:pathLst>
            </a:custGeom>
            <a:blipFill>
              <a:blip r:embed="rId2"/>
              <a:stretch>
                <a:fillRect l="-6843" r="-6843"/>
              </a:stretch>
            </a:blipFill>
          </p:spPr>
          <p:txBody>
            <a:bodyPr/>
            <a:lstStyle/>
            <a:p>
              <a:endParaRPr lang="en-US"/>
            </a:p>
          </p:txBody>
        </p:sp>
      </p:grpSp>
      <p:sp>
        <p:nvSpPr>
          <p:cNvPr id="9" name="Freeform 9"/>
          <p:cNvSpPr/>
          <p:nvPr/>
        </p:nvSpPr>
        <p:spPr>
          <a:xfrm>
            <a:off x="410845" y="4873051"/>
            <a:ext cx="5685155" cy="3210569"/>
          </a:xfrm>
          <a:custGeom>
            <a:avLst/>
            <a:gdLst/>
            <a:ahLst/>
            <a:cxnLst/>
            <a:rect l="l" t="t" r="r" b="b"/>
            <a:pathLst>
              <a:path w="8558864" h="3984705">
                <a:moveTo>
                  <a:pt x="0" y="0"/>
                </a:moveTo>
                <a:lnTo>
                  <a:pt x="8558864" y="0"/>
                </a:lnTo>
                <a:lnTo>
                  <a:pt x="8558864" y="3984706"/>
                </a:lnTo>
                <a:lnTo>
                  <a:pt x="0" y="3984706"/>
                </a:lnTo>
                <a:lnTo>
                  <a:pt x="0" y="0"/>
                </a:lnTo>
                <a:close/>
              </a:path>
            </a:pathLst>
          </a:custGeom>
          <a:blipFill>
            <a:blip r:embed="rId3"/>
            <a:stretch>
              <a:fillRect/>
            </a:stretch>
          </a:blipFill>
        </p:spPr>
        <p:txBody>
          <a:bodyPr/>
          <a:lstStyle/>
          <a:p>
            <a:endParaRPr lang="en-US"/>
          </a:p>
        </p:txBody>
      </p:sp>
      <p:sp>
        <p:nvSpPr>
          <p:cNvPr id="10" name="Freeform 10"/>
          <p:cNvSpPr/>
          <p:nvPr/>
        </p:nvSpPr>
        <p:spPr>
          <a:xfrm>
            <a:off x="6271078" y="1617607"/>
            <a:ext cx="5920924" cy="6466013"/>
          </a:xfrm>
          <a:custGeom>
            <a:avLst/>
            <a:gdLst/>
            <a:ahLst/>
            <a:cxnLst/>
            <a:rect l="l" t="t" r="r" b="b"/>
            <a:pathLst>
              <a:path w="5920924" h="4103425">
                <a:moveTo>
                  <a:pt x="0" y="0"/>
                </a:moveTo>
                <a:lnTo>
                  <a:pt x="5920923" y="0"/>
                </a:lnTo>
                <a:lnTo>
                  <a:pt x="5920923" y="4103425"/>
                </a:lnTo>
                <a:lnTo>
                  <a:pt x="0" y="4103425"/>
                </a:lnTo>
                <a:lnTo>
                  <a:pt x="0" y="0"/>
                </a:lnTo>
                <a:close/>
              </a:path>
            </a:pathLst>
          </a:custGeom>
          <a:blipFill>
            <a:blip r:embed="rId4"/>
            <a:stretch>
              <a:fillRect/>
            </a:stretch>
          </a:blipFill>
        </p:spPr>
        <p:txBody>
          <a:bodyPr/>
          <a:lstStyle/>
          <a:p>
            <a:endParaRPr lang="en-US"/>
          </a:p>
        </p:txBody>
      </p:sp>
      <p:sp>
        <p:nvSpPr>
          <p:cNvPr id="11" name="Freeform 11"/>
          <p:cNvSpPr/>
          <p:nvPr/>
        </p:nvSpPr>
        <p:spPr>
          <a:xfrm>
            <a:off x="12514898" y="1617607"/>
            <a:ext cx="5362257" cy="3110599"/>
          </a:xfrm>
          <a:custGeom>
            <a:avLst/>
            <a:gdLst/>
            <a:ahLst/>
            <a:cxnLst/>
            <a:rect l="l" t="t" r="r" b="b"/>
            <a:pathLst>
              <a:path w="8806903" h="3929302">
                <a:moveTo>
                  <a:pt x="0" y="0"/>
                </a:moveTo>
                <a:lnTo>
                  <a:pt x="8806904" y="0"/>
                </a:lnTo>
                <a:lnTo>
                  <a:pt x="8806904" y="3929302"/>
                </a:lnTo>
                <a:lnTo>
                  <a:pt x="0" y="3929302"/>
                </a:lnTo>
                <a:lnTo>
                  <a:pt x="0" y="0"/>
                </a:lnTo>
                <a:close/>
              </a:path>
            </a:pathLst>
          </a:custGeom>
          <a:blipFill>
            <a:blip r:embed="rId5"/>
            <a:stretch>
              <a:fillRect l="-2179" r="-2179" b="-12312"/>
            </a:stretch>
          </a:blipFill>
        </p:spPr>
        <p:txBody>
          <a:bodyPr/>
          <a:lstStyle/>
          <a:p>
            <a:endParaRPr lang="en-US"/>
          </a:p>
        </p:txBody>
      </p:sp>
      <p:sp>
        <p:nvSpPr>
          <p:cNvPr id="12" name="Freeform 12"/>
          <p:cNvSpPr/>
          <p:nvPr/>
        </p:nvSpPr>
        <p:spPr>
          <a:xfrm>
            <a:off x="12514898" y="4873050"/>
            <a:ext cx="5362257" cy="3210569"/>
          </a:xfrm>
          <a:custGeom>
            <a:avLst/>
            <a:gdLst/>
            <a:ahLst/>
            <a:cxnLst/>
            <a:rect l="l" t="t" r="r" b="b"/>
            <a:pathLst>
              <a:path w="6432543" h="3134386">
                <a:moveTo>
                  <a:pt x="0" y="0"/>
                </a:moveTo>
                <a:lnTo>
                  <a:pt x="6432543" y="0"/>
                </a:lnTo>
                <a:lnTo>
                  <a:pt x="6432543" y="3134386"/>
                </a:lnTo>
                <a:lnTo>
                  <a:pt x="0" y="3134386"/>
                </a:lnTo>
                <a:lnTo>
                  <a:pt x="0" y="0"/>
                </a:lnTo>
                <a:close/>
              </a:path>
            </a:pathLst>
          </a:custGeom>
          <a:blipFill>
            <a:blip r:embed="rId6"/>
            <a:stretch>
              <a:fillRect/>
            </a:stretch>
          </a:blipFill>
        </p:spPr>
        <p:txBody>
          <a:bodyPr/>
          <a:lstStyle/>
          <a:p>
            <a:endParaRPr lang="en-US"/>
          </a:p>
        </p:txBody>
      </p:sp>
      <p:sp>
        <p:nvSpPr>
          <p:cNvPr id="14" name="TextBox 14"/>
          <p:cNvSpPr txBox="1"/>
          <p:nvPr/>
        </p:nvSpPr>
        <p:spPr>
          <a:xfrm>
            <a:off x="6271078" y="410301"/>
            <a:ext cx="4901579" cy="1123314"/>
          </a:xfrm>
          <a:prstGeom prst="rect">
            <a:avLst/>
          </a:prstGeom>
        </p:spPr>
        <p:txBody>
          <a:bodyPr lIns="0" tIns="0" rIns="0" bIns="0" rtlCol="0" anchor="t">
            <a:spAutoFit/>
          </a:bodyPr>
          <a:lstStyle/>
          <a:p>
            <a:pPr algn="l">
              <a:lnSpc>
                <a:spcPts val="8329"/>
              </a:lnSpc>
            </a:pPr>
            <a:r>
              <a:rPr lang="en-US" sz="8499" spc="-271" dirty="0">
                <a:solidFill>
                  <a:srgbClr val="FEFEFE"/>
                </a:solidFill>
                <a:latin typeface="Anton"/>
                <a:ea typeface="Anton"/>
                <a:cs typeface="Anton"/>
                <a:sym typeface="Anton"/>
              </a:rPr>
              <a:t>FORECASTING</a:t>
            </a:r>
          </a:p>
        </p:txBody>
      </p:sp>
      <p:sp>
        <p:nvSpPr>
          <p:cNvPr id="15" name="TextBox 15"/>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21</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7" name="TextBox 7"/>
          <p:cNvSpPr txBox="1"/>
          <p:nvPr/>
        </p:nvSpPr>
        <p:spPr>
          <a:xfrm>
            <a:off x="5952062" y="95250"/>
            <a:ext cx="4953331" cy="1122047"/>
          </a:xfrm>
          <a:prstGeom prst="rect">
            <a:avLst/>
          </a:prstGeom>
        </p:spPr>
        <p:txBody>
          <a:bodyPr lIns="0" tIns="0" rIns="0" bIns="0" rtlCol="0" anchor="t">
            <a:spAutoFit/>
          </a:bodyPr>
          <a:lstStyle/>
          <a:p>
            <a:pPr algn="r">
              <a:lnSpc>
                <a:spcPts val="8640"/>
              </a:lnSpc>
            </a:pPr>
            <a:r>
              <a:rPr lang="en-US" sz="8000">
                <a:solidFill>
                  <a:srgbClr val="FFFFFF"/>
                </a:solidFill>
                <a:latin typeface="Anton"/>
                <a:ea typeface="Anton"/>
                <a:cs typeface="Anton"/>
                <a:sym typeface="Anton"/>
              </a:rPr>
              <a:t>FORCASTING</a:t>
            </a:r>
          </a:p>
        </p:txBody>
      </p:sp>
      <p:sp>
        <p:nvSpPr>
          <p:cNvPr id="8" name="TextBox 8"/>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22</a:t>
            </a:r>
          </a:p>
        </p:txBody>
      </p:sp>
      <p:sp>
        <p:nvSpPr>
          <p:cNvPr id="9" name="TextBox 9"/>
          <p:cNvSpPr txBox="1"/>
          <p:nvPr/>
        </p:nvSpPr>
        <p:spPr>
          <a:xfrm>
            <a:off x="7374" y="1000125"/>
            <a:ext cx="18280626" cy="946221"/>
          </a:xfrm>
          <a:prstGeom prst="rect">
            <a:avLst/>
          </a:prstGeom>
        </p:spPr>
        <p:txBody>
          <a:bodyPr wrap="square" lIns="0" tIns="0" rIns="0" bIns="0" rtlCol="0" anchor="t">
            <a:spAutoFit/>
          </a:bodyPr>
          <a:lstStyle/>
          <a:p>
            <a:pPr algn="ctr">
              <a:lnSpc>
                <a:spcPts val="2518"/>
              </a:lnSpc>
              <a:spcBef>
                <a:spcPct val="0"/>
              </a:spcBef>
            </a:pPr>
            <a:r>
              <a:rPr lang="en-US" sz="1799" b="1" dirty="0">
                <a:solidFill>
                  <a:srgbClr val="071436"/>
                </a:solidFill>
                <a:latin typeface="Poppins Bold"/>
                <a:ea typeface="Poppins Bold"/>
                <a:cs typeface="Poppins Bold"/>
                <a:sym typeface="Poppins Bold"/>
              </a:rPr>
              <a:t>To forecast future trends, historical data for 2025 was extracted from the “Months” sheet and evaluated using three forecasting models: ETS, Seasonal Naïve, and SARIMA. The models were compared against the actual 2025 values for both Deaths and Injuries to assess their accuracy. ETS achieved the best overall performance for both variables, so it was selected to generate the final forecasts for 2026.</a:t>
            </a:r>
          </a:p>
        </p:txBody>
      </p:sp>
      <p:grpSp>
        <p:nvGrpSpPr>
          <p:cNvPr id="10" name="Group 10"/>
          <p:cNvGrpSpPr/>
          <p:nvPr/>
        </p:nvGrpSpPr>
        <p:grpSpPr>
          <a:xfrm>
            <a:off x="4876800" y="2313875"/>
            <a:ext cx="9495936" cy="7134710"/>
            <a:chOff x="0" y="0"/>
            <a:chExt cx="1235833" cy="928535"/>
          </a:xfrm>
        </p:grpSpPr>
        <p:sp>
          <p:nvSpPr>
            <p:cNvPr id="11" name="Freeform 11"/>
            <p:cNvSpPr/>
            <p:nvPr/>
          </p:nvSpPr>
          <p:spPr>
            <a:xfrm>
              <a:off x="0" y="0"/>
              <a:ext cx="1235833" cy="928535"/>
            </a:xfrm>
            <a:custGeom>
              <a:avLst/>
              <a:gdLst/>
              <a:ahLst/>
              <a:cxnLst/>
              <a:rect l="l" t="t" r="r" b="b"/>
              <a:pathLst>
                <a:path w="1235833" h="928535">
                  <a:moveTo>
                    <a:pt x="0" y="0"/>
                  </a:moveTo>
                  <a:lnTo>
                    <a:pt x="1235833" y="0"/>
                  </a:lnTo>
                  <a:lnTo>
                    <a:pt x="1235833" y="928535"/>
                  </a:lnTo>
                  <a:lnTo>
                    <a:pt x="0" y="928535"/>
                  </a:lnTo>
                  <a:close/>
                </a:path>
              </a:pathLst>
            </a:custGeom>
            <a:blipFill>
              <a:blip r:embed="rId2"/>
              <a:stretch>
                <a:fillRect t="-4689" b="-4689"/>
              </a:stretch>
            </a:blipFill>
          </p:spPr>
          <p:txBody>
            <a:bodyPr/>
            <a:lstStyle/>
            <a:p>
              <a:endParaRPr lang="en-US"/>
            </a:p>
          </p:txBody>
        </p:sp>
      </p:gr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DDAA"/>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71436"/>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071436"/>
            </a:solidFill>
          </p:spPr>
          <p:txBody>
            <a:bodyPr/>
            <a:lstStyle/>
            <a:p>
              <a:endParaRPr lang="en-US"/>
            </a:p>
          </p:txBody>
        </p:sp>
      </p:grpSp>
      <p:sp>
        <p:nvSpPr>
          <p:cNvPr id="7" name="TextBox 7"/>
          <p:cNvSpPr txBox="1"/>
          <p:nvPr/>
        </p:nvSpPr>
        <p:spPr>
          <a:xfrm>
            <a:off x="6062202" y="86556"/>
            <a:ext cx="4953331" cy="1196340"/>
          </a:xfrm>
          <a:prstGeom prst="rect">
            <a:avLst/>
          </a:prstGeom>
        </p:spPr>
        <p:txBody>
          <a:bodyPr lIns="0" tIns="0" rIns="0" bIns="0" rtlCol="0" anchor="t">
            <a:spAutoFit/>
          </a:bodyPr>
          <a:lstStyle/>
          <a:p>
            <a:pPr algn="r">
              <a:lnSpc>
                <a:spcPts val="9179"/>
              </a:lnSpc>
            </a:pPr>
            <a:r>
              <a:rPr lang="en-US" sz="8499">
                <a:solidFill>
                  <a:srgbClr val="FFFFFF"/>
                </a:solidFill>
                <a:latin typeface="Anton"/>
                <a:ea typeface="Anton"/>
                <a:cs typeface="Anton"/>
                <a:sym typeface="Anton"/>
              </a:rPr>
              <a:t>FORCASTING</a:t>
            </a:r>
          </a:p>
        </p:txBody>
      </p:sp>
      <p:sp>
        <p:nvSpPr>
          <p:cNvPr id="8" name="TextBox 8"/>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F7DDAA"/>
                </a:solidFill>
                <a:latin typeface="Poppins"/>
                <a:ea typeface="Poppins"/>
                <a:cs typeface="Poppins"/>
                <a:sym typeface="Poppins"/>
              </a:rPr>
              <a:t>23</a:t>
            </a:r>
          </a:p>
        </p:txBody>
      </p:sp>
      <p:sp>
        <p:nvSpPr>
          <p:cNvPr id="9" name="TextBox 9"/>
          <p:cNvSpPr txBox="1"/>
          <p:nvPr/>
        </p:nvSpPr>
        <p:spPr>
          <a:xfrm>
            <a:off x="30998" y="1279207"/>
            <a:ext cx="18257001" cy="1059201"/>
          </a:xfrm>
          <a:prstGeom prst="rect">
            <a:avLst/>
          </a:prstGeom>
        </p:spPr>
        <p:txBody>
          <a:bodyPr wrap="square" lIns="0" tIns="0" rIns="0" bIns="0" rtlCol="0" anchor="t">
            <a:spAutoFit/>
          </a:bodyPr>
          <a:lstStyle/>
          <a:p>
            <a:pPr algn="ctr">
              <a:lnSpc>
                <a:spcPts val="2798"/>
              </a:lnSpc>
              <a:spcBef>
                <a:spcPct val="0"/>
              </a:spcBef>
            </a:pPr>
            <a:r>
              <a:rPr lang="en-US" sz="1999" b="1" dirty="0">
                <a:solidFill>
                  <a:srgbClr val="071436"/>
                </a:solidFill>
                <a:latin typeface="Poppins Bold"/>
                <a:ea typeface="Poppins Bold"/>
                <a:cs typeface="Poppins Bold"/>
                <a:sym typeface="Poppins Bold"/>
              </a:rPr>
              <a:t>To forecast future trends, historical data for 2025 was extracted from the “Months” sheet and evaluated using three forecasting models: ETS, Seasonal Naïve, and SARIMA. The models were compared against the actual 2025 values for both Deaths and Injuries to assess their accuracy. ETS achieved the best overall performance for both variables, so it was selected to generate the final forecasts for 2026.</a:t>
            </a:r>
          </a:p>
        </p:txBody>
      </p:sp>
      <p:grpSp>
        <p:nvGrpSpPr>
          <p:cNvPr id="10" name="Group 10"/>
          <p:cNvGrpSpPr/>
          <p:nvPr/>
        </p:nvGrpSpPr>
        <p:grpSpPr>
          <a:xfrm>
            <a:off x="2895600" y="2913250"/>
            <a:ext cx="12856384" cy="6535335"/>
            <a:chOff x="0" y="0"/>
            <a:chExt cx="1235833" cy="628216"/>
          </a:xfrm>
        </p:grpSpPr>
        <p:sp>
          <p:nvSpPr>
            <p:cNvPr id="11" name="Freeform 11"/>
            <p:cNvSpPr/>
            <p:nvPr/>
          </p:nvSpPr>
          <p:spPr>
            <a:xfrm>
              <a:off x="0" y="0"/>
              <a:ext cx="1235833" cy="628216"/>
            </a:xfrm>
            <a:custGeom>
              <a:avLst/>
              <a:gdLst/>
              <a:ahLst/>
              <a:cxnLst/>
              <a:rect l="l" t="t" r="r" b="b"/>
              <a:pathLst>
                <a:path w="1235833" h="628216">
                  <a:moveTo>
                    <a:pt x="0" y="0"/>
                  </a:moveTo>
                  <a:lnTo>
                    <a:pt x="1235833" y="0"/>
                  </a:lnTo>
                  <a:lnTo>
                    <a:pt x="1235833" y="628216"/>
                  </a:lnTo>
                  <a:lnTo>
                    <a:pt x="0" y="628216"/>
                  </a:lnTo>
                  <a:close/>
                </a:path>
              </a:pathLst>
            </a:custGeom>
            <a:blipFill>
              <a:blip r:embed="rId2"/>
              <a:stretch>
                <a:fillRect l="-1774" r="-1774"/>
              </a:stretch>
            </a:blipFill>
          </p:spPr>
          <p:txBody>
            <a:bodyPr/>
            <a:lstStyle/>
            <a:p>
              <a:endParaRPr lang="en-US"/>
            </a:p>
          </p:txBody>
        </p:sp>
      </p:gr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30999" y="0"/>
            <a:ext cx="445747" cy="44574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DDAA"/>
            </a:solidFill>
          </p:spPr>
          <p:txBody>
            <a:bodyPr/>
            <a:lstStyle/>
            <a:p>
              <a:endParaRPr lang="en-US"/>
            </a:p>
          </p:txBody>
        </p:sp>
        <p:sp>
          <p:nvSpPr>
            <p:cNvPr id="4" name="TextBox 4"/>
            <p:cNvSpPr txBox="1"/>
            <p:nvPr/>
          </p:nvSpPr>
          <p:spPr>
            <a:xfrm>
              <a:off x="76200" y="9525"/>
              <a:ext cx="660400" cy="727075"/>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396365" y="8956675"/>
            <a:ext cx="1746223" cy="1452297"/>
            <a:chOff x="0" y="0"/>
            <a:chExt cx="1650219" cy="1372452"/>
          </a:xfrm>
        </p:grpSpPr>
        <p:sp>
          <p:nvSpPr>
            <p:cNvPr id="6" name="Freeform 6"/>
            <p:cNvSpPr/>
            <p:nvPr/>
          </p:nvSpPr>
          <p:spPr>
            <a:xfrm>
              <a:off x="0" y="0"/>
              <a:ext cx="1650218" cy="1372452"/>
            </a:xfrm>
            <a:custGeom>
              <a:avLst/>
              <a:gdLst/>
              <a:ahLst/>
              <a:cxnLst/>
              <a:rect l="l" t="t" r="r" b="b"/>
              <a:pathLst>
                <a:path w="1650218" h="1372452">
                  <a:moveTo>
                    <a:pt x="0" y="0"/>
                  </a:moveTo>
                  <a:lnTo>
                    <a:pt x="1650218" y="0"/>
                  </a:lnTo>
                  <a:lnTo>
                    <a:pt x="1650218" y="1372452"/>
                  </a:lnTo>
                  <a:lnTo>
                    <a:pt x="0" y="1372452"/>
                  </a:lnTo>
                  <a:close/>
                </a:path>
              </a:pathLst>
            </a:custGeom>
            <a:solidFill>
              <a:srgbClr val="F7DDAA"/>
            </a:solidFill>
          </p:spPr>
          <p:txBody>
            <a:bodyPr/>
            <a:lstStyle/>
            <a:p>
              <a:endParaRPr lang="en-US"/>
            </a:p>
          </p:txBody>
        </p:sp>
      </p:grpSp>
      <p:grpSp>
        <p:nvGrpSpPr>
          <p:cNvPr id="7" name="Group 7"/>
          <p:cNvGrpSpPr/>
          <p:nvPr/>
        </p:nvGrpSpPr>
        <p:grpSpPr>
          <a:xfrm>
            <a:off x="9824126" y="0"/>
            <a:ext cx="11514981" cy="4556024"/>
            <a:chOff x="0" y="0"/>
            <a:chExt cx="909826" cy="359982"/>
          </a:xfrm>
        </p:grpSpPr>
        <p:sp>
          <p:nvSpPr>
            <p:cNvPr id="8" name="Freeform 8"/>
            <p:cNvSpPr/>
            <p:nvPr/>
          </p:nvSpPr>
          <p:spPr>
            <a:xfrm>
              <a:off x="0" y="0"/>
              <a:ext cx="909826" cy="359982"/>
            </a:xfrm>
            <a:custGeom>
              <a:avLst/>
              <a:gdLst/>
              <a:ahLst/>
              <a:cxnLst/>
              <a:rect l="l" t="t" r="r" b="b"/>
              <a:pathLst>
                <a:path w="909826" h="359982">
                  <a:moveTo>
                    <a:pt x="0" y="0"/>
                  </a:moveTo>
                  <a:lnTo>
                    <a:pt x="909826" y="0"/>
                  </a:lnTo>
                  <a:lnTo>
                    <a:pt x="909826" y="359982"/>
                  </a:lnTo>
                  <a:lnTo>
                    <a:pt x="0" y="359982"/>
                  </a:lnTo>
                  <a:close/>
                </a:path>
              </a:pathLst>
            </a:custGeom>
            <a:blipFill>
              <a:blip r:embed="rId2"/>
              <a:stretch>
                <a:fillRect t="-34247" b="-34247"/>
              </a:stretch>
            </a:blipFill>
          </p:spPr>
          <p:txBody>
            <a:bodyPr/>
            <a:lstStyle/>
            <a:p>
              <a:endParaRPr lang="en-US"/>
            </a:p>
          </p:txBody>
        </p:sp>
      </p:grpSp>
      <p:grpSp>
        <p:nvGrpSpPr>
          <p:cNvPr id="9" name="Group 9"/>
          <p:cNvGrpSpPr/>
          <p:nvPr/>
        </p:nvGrpSpPr>
        <p:grpSpPr>
          <a:xfrm>
            <a:off x="9824126" y="6030398"/>
            <a:ext cx="10939054" cy="4256602"/>
            <a:chOff x="0" y="0"/>
            <a:chExt cx="864320" cy="336324"/>
          </a:xfrm>
        </p:grpSpPr>
        <p:sp>
          <p:nvSpPr>
            <p:cNvPr id="10" name="Freeform 10"/>
            <p:cNvSpPr/>
            <p:nvPr/>
          </p:nvSpPr>
          <p:spPr>
            <a:xfrm>
              <a:off x="0" y="0"/>
              <a:ext cx="864320" cy="336324"/>
            </a:xfrm>
            <a:custGeom>
              <a:avLst/>
              <a:gdLst/>
              <a:ahLst/>
              <a:cxnLst/>
              <a:rect l="l" t="t" r="r" b="b"/>
              <a:pathLst>
                <a:path w="864320" h="336324">
                  <a:moveTo>
                    <a:pt x="0" y="0"/>
                  </a:moveTo>
                  <a:lnTo>
                    <a:pt x="864320" y="0"/>
                  </a:lnTo>
                  <a:lnTo>
                    <a:pt x="864320" y="336324"/>
                  </a:lnTo>
                  <a:lnTo>
                    <a:pt x="0" y="336324"/>
                  </a:lnTo>
                  <a:close/>
                </a:path>
              </a:pathLst>
            </a:custGeom>
            <a:blipFill>
              <a:blip r:embed="rId3"/>
              <a:stretch>
                <a:fillRect t="-22109" b="-22109"/>
              </a:stretch>
            </a:blipFill>
          </p:spPr>
          <p:txBody>
            <a:bodyPr/>
            <a:lstStyle/>
            <a:p>
              <a:endParaRPr lang="en-US"/>
            </a:p>
          </p:txBody>
        </p:sp>
      </p:grpSp>
      <p:sp>
        <p:nvSpPr>
          <p:cNvPr id="11" name="TextBox 11"/>
          <p:cNvSpPr txBox="1"/>
          <p:nvPr/>
        </p:nvSpPr>
        <p:spPr>
          <a:xfrm>
            <a:off x="476747" y="2867389"/>
            <a:ext cx="9124454" cy="4903265"/>
          </a:xfrm>
          <a:prstGeom prst="rect">
            <a:avLst/>
          </a:prstGeom>
        </p:spPr>
        <p:txBody>
          <a:bodyPr wrap="square" lIns="0" tIns="0" rIns="0" bIns="0" rtlCol="0" anchor="t">
            <a:spAutoFit/>
          </a:bodyPr>
          <a:lstStyle/>
          <a:p>
            <a:pPr marL="342900" indent="-342900" algn="justLow">
              <a:lnSpc>
                <a:spcPts val="3175"/>
              </a:lnSpc>
              <a:spcBef>
                <a:spcPct val="0"/>
              </a:spcBef>
              <a:buFont typeface="Arial" panose="020B0604020202020204" pitchFamily="34" charset="0"/>
              <a:buChar char="•"/>
            </a:pPr>
            <a:r>
              <a:rPr lang="en-US" sz="2268" dirty="0">
                <a:solidFill>
                  <a:srgbClr val="FFFFFF"/>
                </a:solidFill>
                <a:latin typeface="Poppins"/>
                <a:ea typeface="Poppins"/>
                <a:cs typeface="Poppins"/>
                <a:sym typeface="Poppins"/>
              </a:rPr>
              <a:t>This project goes beyond numbers. Every data point represents a real life, a family, and a story.</a:t>
            </a:r>
          </a:p>
          <a:p>
            <a:pPr marL="342900" indent="-342900" algn="justLow">
              <a:lnSpc>
                <a:spcPts val="3175"/>
              </a:lnSpc>
              <a:spcBef>
                <a:spcPct val="0"/>
              </a:spcBef>
              <a:buFont typeface="Arial" panose="020B0604020202020204" pitchFamily="34" charset="0"/>
              <a:buChar char="•"/>
            </a:pPr>
            <a:r>
              <a:rPr lang="en-US" sz="2268" dirty="0">
                <a:solidFill>
                  <a:srgbClr val="FFFFFF"/>
                </a:solidFill>
                <a:latin typeface="Poppins"/>
                <a:ea typeface="Poppins"/>
                <a:cs typeface="Poppins"/>
                <a:sym typeface="Poppins"/>
              </a:rPr>
              <a:t>Through data cleaning, transformation, analysis, and interactive visualization, we turned raw accident data into meaningful insights. By comparing ETS, Seasonal Naïve, and SARIMA, we identified ETS as the most accurate model and used it to forecast Deaths and Injuries for 2026.</a:t>
            </a:r>
          </a:p>
          <a:p>
            <a:pPr marL="342900" indent="-342900" algn="justLow">
              <a:lnSpc>
                <a:spcPts val="3175"/>
              </a:lnSpc>
              <a:spcBef>
                <a:spcPct val="0"/>
              </a:spcBef>
              <a:buFont typeface="Arial" panose="020B0604020202020204" pitchFamily="34" charset="0"/>
              <a:buChar char="•"/>
            </a:pPr>
            <a:r>
              <a:rPr lang="en-US" sz="2268" dirty="0">
                <a:solidFill>
                  <a:srgbClr val="FFFFFF"/>
                </a:solidFill>
                <a:latin typeface="Poppins"/>
                <a:ea typeface="Poppins"/>
                <a:cs typeface="Poppins"/>
                <a:sym typeface="Poppins"/>
              </a:rPr>
              <a:t>These insights help us understand accident patterns, compare trends across governorates and years, and support data-driven decisions.</a:t>
            </a:r>
          </a:p>
          <a:p>
            <a:pPr marL="342900" indent="-342900" algn="justLow">
              <a:lnSpc>
                <a:spcPts val="3175"/>
              </a:lnSpc>
              <a:spcBef>
                <a:spcPct val="0"/>
              </a:spcBef>
              <a:buFont typeface="Arial" panose="020B0604020202020204" pitchFamily="34" charset="0"/>
              <a:buChar char="•"/>
            </a:pPr>
            <a:r>
              <a:rPr lang="en-US" sz="2268" dirty="0">
                <a:solidFill>
                  <a:srgbClr val="FFFFFF"/>
                </a:solidFill>
                <a:latin typeface="Poppins"/>
                <a:ea typeface="Poppins"/>
                <a:cs typeface="Poppins"/>
                <a:sym typeface="Poppins"/>
              </a:rPr>
              <a:t>Because behind every number, there is a life, and better data can help us build a safer future.</a:t>
            </a:r>
          </a:p>
        </p:txBody>
      </p:sp>
      <p:sp>
        <p:nvSpPr>
          <p:cNvPr id="12" name="Freeform 12"/>
          <p:cNvSpPr/>
          <p:nvPr/>
        </p:nvSpPr>
        <p:spPr>
          <a:xfrm>
            <a:off x="15814364" y="4792548"/>
            <a:ext cx="876160" cy="1001326"/>
          </a:xfrm>
          <a:custGeom>
            <a:avLst/>
            <a:gdLst/>
            <a:ahLst/>
            <a:cxnLst/>
            <a:rect l="l" t="t" r="r" b="b"/>
            <a:pathLst>
              <a:path w="876160" h="1001326">
                <a:moveTo>
                  <a:pt x="0" y="0"/>
                </a:moveTo>
                <a:lnTo>
                  <a:pt x="876160" y="0"/>
                </a:lnTo>
                <a:lnTo>
                  <a:pt x="876160" y="1001326"/>
                </a:lnTo>
                <a:lnTo>
                  <a:pt x="0" y="10013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TextBox 13"/>
          <p:cNvSpPr txBox="1"/>
          <p:nvPr/>
        </p:nvSpPr>
        <p:spPr>
          <a:xfrm>
            <a:off x="2157305" y="95250"/>
            <a:ext cx="6562189" cy="1196340"/>
          </a:xfrm>
          <a:prstGeom prst="rect">
            <a:avLst/>
          </a:prstGeom>
        </p:spPr>
        <p:txBody>
          <a:bodyPr lIns="0" tIns="0" rIns="0" bIns="0" rtlCol="0" anchor="t">
            <a:spAutoFit/>
          </a:bodyPr>
          <a:lstStyle/>
          <a:p>
            <a:pPr algn="l">
              <a:lnSpc>
                <a:spcPts val="9179"/>
              </a:lnSpc>
            </a:pPr>
            <a:r>
              <a:rPr lang="en-US" sz="8499">
                <a:solidFill>
                  <a:srgbClr val="FFFFFF"/>
                </a:solidFill>
                <a:latin typeface="Anton"/>
                <a:ea typeface="Anton"/>
                <a:cs typeface="Anton"/>
                <a:sym typeface="Anton"/>
              </a:rPr>
              <a:t>CONCLUSTION</a:t>
            </a:r>
          </a:p>
        </p:txBody>
      </p:sp>
      <p:sp>
        <p:nvSpPr>
          <p:cNvPr id="14" name="TextBox 14"/>
          <p:cNvSpPr txBox="1"/>
          <p:nvPr/>
        </p:nvSpPr>
        <p:spPr>
          <a:xfrm>
            <a:off x="476746" y="9214346"/>
            <a:ext cx="642062" cy="468478"/>
          </a:xfrm>
          <a:prstGeom prst="rect">
            <a:avLst/>
          </a:prstGeom>
        </p:spPr>
        <p:txBody>
          <a:bodyPr lIns="0" tIns="0" rIns="0" bIns="0" rtlCol="0" anchor="t">
            <a:spAutoFit/>
          </a:bodyPr>
          <a:lstStyle/>
          <a:p>
            <a:pPr algn="r">
              <a:lnSpc>
                <a:spcPts val="3499"/>
              </a:lnSpc>
              <a:spcBef>
                <a:spcPct val="0"/>
              </a:spcBef>
            </a:pPr>
            <a:r>
              <a:rPr lang="en-US" sz="3240">
                <a:solidFill>
                  <a:srgbClr val="071436"/>
                </a:solidFill>
                <a:latin typeface="Poppins"/>
                <a:ea typeface="Poppins"/>
                <a:cs typeface="Poppins"/>
                <a:sym typeface="Poppins"/>
              </a:rPr>
              <a:t>24</a:t>
            </a:r>
          </a:p>
        </p:txBody>
      </p:sp>
      <p:sp>
        <p:nvSpPr>
          <p:cNvPr id="15" name="Freeform 15"/>
          <p:cNvSpPr/>
          <p:nvPr/>
        </p:nvSpPr>
        <p:spPr>
          <a:xfrm>
            <a:off x="14192908" y="4792548"/>
            <a:ext cx="876160" cy="1001326"/>
          </a:xfrm>
          <a:custGeom>
            <a:avLst/>
            <a:gdLst/>
            <a:ahLst/>
            <a:cxnLst/>
            <a:rect l="l" t="t" r="r" b="b"/>
            <a:pathLst>
              <a:path w="876160" h="1001326">
                <a:moveTo>
                  <a:pt x="0" y="0"/>
                </a:moveTo>
                <a:lnTo>
                  <a:pt x="876160" y="0"/>
                </a:lnTo>
                <a:lnTo>
                  <a:pt x="876160" y="1001326"/>
                </a:lnTo>
                <a:lnTo>
                  <a:pt x="0" y="10013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16"/>
          <p:cNvSpPr/>
          <p:nvPr/>
        </p:nvSpPr>
        <p:spPr>
          <a:xfrm>
            <a:off x="12290290" y="4792548"/>
            <a:ext cx="876160" cy="1001326"/>
          </a:xfrm>
          <a:custGeom>
            <a:avLst/>
            <a:gdLst/>
            <a:ahLst/>
            <a:cxnLst/>
            <a:rect l="l" t="t" r="r" b="b"/>
            <a:pathLst>
              <a:path w="876160" h="1001326">
                <a:moveTo>
                  <a:pt x="0" y="0"/>
                </a:moveTo>
                <a:lnTo>
                  <a:pt x="876160" y="0"/>
                </a:lnTo>
                <a:lnTo>
                  <a:pt x="876160" y="1001326"/>
                </a:lnTo>
                <a:lnTo>
                  <a:pt x="0" y="10013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143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962883" cy="6187588"/>
            <a:chOff x="0" y="0"/>
            <a:chExt cx="851650" cy="528929"/>
          </a:xfrm>
        </p:grpSpPr>
        <p:sp>
          <p:nvSpPr>
            <p:cNvPr id="3" name="Freeform 3"/>
            <p:cNvSpPr/>
            <p:nvPr/>
          </p:nvSpPr>
          <p:spPr>
            <a:xfrm>
              <a:off x="0" y="0"/>
              <a:ext cx="851650" cy="528929"/>
            </a:xfrm>
            <a:custGeom>
              <a:avLst/>
              <a:gdLst/>
              <a:ahLst/>
              <a:cxnLst/>
              <a:rect l="l" t="t" r="r" b="b"/>
              <a:pathLst>
                <a:path w="851650" h="528929">
                  <a:moveTo>
                    <a:pt x="0" y="0"/>
                  </a:moveTo>
                  <a:lnTo>
                    <a:pt x="851650" y="0"/>
                  </a:lnTo>
                  <a:lnTo>
                    <a:pt x="851650" y="528929"/>
                  </a:lnTo>
                  <a:lnTo>
                    <a:pt x="0" y="528929"/>
                  </a:lnTo>
                  <a:close/>
                </a:path>
              </a:pathLst>
            </a:custGeom>
            <a:blipFill>
              <a:blip r:embed="rId3"/>
              <a:stretch>
                <a:fillRect t="-10380" b="-10380"/>
              </a:stretch>
            </a:blipFill>
          </p:spPr>
          <p:txBody>
            <a:bodyPr/>
            <a:lstStyle/>
            <a:p>
              <a:endParaRPr lang="en-US"/>
            </a:p>
          </p:txBody>
        </p:sp>
      </p:grpSp>
      <p:sp>
        <p:nvSpPr>
          <p:cNvPr id="4" name="TextBox 4"/>
          <p:cNvSpPr txBox="1"/>
          <p:nvPr/>
        </p:nvSpPr>
        <p:spPr>
          <a:xfrm>
            <a:off x="4127090" y="2379024"/>
            <a:ext cx="13132210" cy="3808564"/>
          </a:xfrm>
          <a:prstGeom prst="rect">
            <a:avLst/>
          </a:prstGeom>
        </p:spPr>
        <p:txBody>
          <a:bodyPr lIns="0" tIns="0" rIns="0" bIns="0" rtlCol="0" anchor="t">
            <a:spAutoFit/>
          </a:bodyPr>
          <a:lstStyle/>
          <a:p>
            <a:pPr algn="r">
              <a:lnSpc>
                <a:spcPts val="14855"/>
              </a:lnSpc>
            </a:pPr>
            <a:r>
              <a:rPr lang="en-US" sz="13754">
                <a:solidFill>
                  <a:srgbClr val="FFFFFF"/>
                </a:solidFill>
                <a:latin typeface="Anton"/>
                <a:ea typeface="Anton"/>
                <a:cs typeface="Anton"/>
                <a:sym typeface="Anton"/>
              </a:rPr>
              <a:t>THANK YOU</a:t>
            </a:r>
          </a:p>
          <a:p>
            <a:pPr algn="r">
              <a:lnSpc>
                <a:spcPts val="14855"/>
              </a:lnSpc>
            </a:pPr>
            <a:endParaRPr lang="en-US" sz="13754">
              <a:solidFill>
                <a:srgbClr val="FFFFFF"/>
              </a:solidFill>
              <a:latin typeface="Anton"/>
              <a:ea typeface="Anton"/>
              <a:cs typeface="Anton"/>
              <a:sym typeface="Anton"/>
            </a:endParaRPr>
          </a:p>
        </p:txBody>
      </p:sp>
      <p:sp>
        <p:nvSpPr>
          <p:cNvPr id="5" name="TextBox 5"/>
          <p:cNvSpPr txBox="1"/>
          <p:nvPr/>
        </p:nvSpPr>
        <p:spPr>
          <a:xfrm>
            <a:off x="326526" y="6405851"/>
            <a:ext cx="5845674" cy="4090863"/>
          </a:xfrm>
          <a:prstGeom prst="rect">
            <a:avLst/>
          </a:prstGeom>
        </p:spPr>
        <p:txBody>
          <a:bodyPr wrap="square" lIns="0" tIns="0" rIns="0" bIns="0" rtlCol="0" anchor="t">
            <a:spAutoFit/>
          </a:bodyPr>
          <a:lstStyle/>
          <a:p>
            <a:pPr>
              <a:lnSpc>
                <a:spcPts val="2940"/>
              </a:lnSpc>
            </a:pPr>
            <a:r>
              <a:rPr lang="en-US" sz="3200" b="1" dirty="0">
                <a:solidFill>
                  <a:srgbClr val="F7DDAA"/>
                </a:solidFill>
                <a:latin typeface="Poppins"/>
                <a:ea typeface="Poppins"/>
                <a:cs typeface="Poppins"/>
                <a:sym typeface="Poppins"/>
              </a:rPr>
              <a:t>Represented by :</a:t>
            </a:r>
          </a:p>
          <a:p>
            <a:pPr marL="457200" indent="-457200">
              <a:lnSpc>
                <a:spcPts val="2940"/>
              </a:lnSpc>
              <a:buFont typeface="Arial" panose="020B0604020202020204" pitchFamily="34" charset="0"/>
              <a:buChar char="•"/>
            </a:pPr>
            <a:endParaRPr lang="en-US" sz="3200" b="1" dirty="0">
              <a:solidFill>
                <a:srgbClr val="F7DDAA"/>
              </a:solidFill>
              <a:latin typeface="Poppins"/>
              <a:ea typeface="Poppins"/>
              <a:cs typeface="Poppins"/>
              <a:sym typeface="Poppins"/>
            </a:endParaRP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Mariam Mostafa </a:t>
            </a: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Dalia Mohamed </a:t>
            </a: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Roaa Elnaggar</a:t>
            </a:r>
          </a:p>
          <a:p>
            <a:pPr marL="457200" indent="-457200">
              <a:lnSpc>
                <a:spcPts val="2940"/>
              </a:lnSpc>
              <a:spcBef>
                <a:spcPct val="0"/>
              </a:spcBef>
              <a:buFont typeface="Arial" panose="020B0604020202020204" pitchFamily="34" charset="0"/>
              <a:buChar char="•"/>
            </a:pPr>
            <a:r>
              <a:rPr lang="en-US" sz="3200" b="1" dirty="0">
                <a:solidFill>
                  <a:srgbClr val="F7DDAA"/>
                </a:solidFill>
                <a:latin typeface="Poppins"/>
                <a:ea typeface="Poppins"/>
                <a:cs typeface="Poppins"/>
                <a:sym typeface="Poppins"/>
              </a:rPr>
              <a:t>Roaa </a:t>
            </a:r>
            <a:r>
              <a:rPr lang="en-US" sz="3200" b="1" dirty="0" err="1">
                <a:solidFill>
                  <a:srgbClr val="F7DDAA"/>
                </a:solidFill>
                <a:latin typeface="Poppins"/>
                <a:ea typeface="Poppins"/>
                <a:cs typeface="Poppins"/>
                <a:sym typeface="Poppins"/>
              </a:rPr>
              <a:t>Elsadany</a:t>
            </a:r>
            <a:endParaRPr lang="en-US" sz="3200" b="1" dirty="0">
              <a:solidFill>
                <a:srgbClr val="F7DDAA"/>
              </a:solidFill>
              <a:latin typeface="Poppins"/>
              <a:ea typeface="Poppins"/>
              <a:cs typeface="Poppins"/>
              <a:sym typeface="Poppins"/>
            </a:endParaRPr>
          </a:p>
          <a:p>
            <a:pPr marL="457200" indent="-457200">
              <a:lnSpc>
                <a:spcPts val="2940"/>
              </a:lnSpc>
              <a:spcBef>
                <a:spcPct val="0"/>
              </a:spcBef>
              <a:buFont typeface="Arial" panose="020B0604020202020204" pitchFamily="34" charset="0"/>
              <a:buChar char="•"/>
            </a:pPr>
            <a:endParaRPr lang="en-US" sz="3200" b="1" dirty="0">
              <a:solidFill>
                <a:srgbClr val="F7DDAA"/>
              </a:solidFill>
              <a:latin typeface="Poppins"/>
              <a:ea typeface="Poppins"/>
              <a:cs typeface="Poppins"/>
              <a:sym typeface="Poppins"/>
            </a:endParaRPr>
          </a:p>
          <a:p>
            <a:pPr>
              <a:lnSpc>
                <a:spcPts val="2940"/>
              </a:lnSpc>
              <a:spcBef>
                <a:spcPct val="0"/>
              </a:spcBef>
            </a:pPr>
            <a:r>
              <a:rPr lang="en-US" sz="3200" b="1" dirty="0">
                <a:solidFill>
                  <a:srgbClr val="F7DDAA"/>
                </a:solidFill>
                <a:latin typeface="Poppins"/>
                <a:ea typeface="Poppins"/>
                <a:cs typeface="Poppins"/>
                <a:sym typeface="Poppins"/>
              </a:rPr>
              <a:t>Represented to:</a:t>
            </a:r>
          </a:p>
          <a:p>
            <a:pPr>
              <a:lnSpc>
                <a:spcPts val="2940"/>
              </a:lnSpc>
              <a:spcBef>
                <a:spcPct val="0"/>
              </a:spcBef>
            </a:pPr>
            <a:endParaRPr lang="en-US" sz="3200" b="1" dirty="0">
              <a:solidFill>
                <a:srgbClr val="F7DDAA"/>
              </a:solidFill>
              <a:latin typeface="Poppins"/>
              <a:ea typeface="Poppins"/>
              <a:cs typeface="Poppins"/>
              <a:sym typeface="Poppins"/>
            </a:endParaRPr>
          </a:p>
          <a:p>
            <a:pPr marL="457200" indent="-457200">
              <a:lnSpc>
                <a:spcPts val="2940"/>
              </a:lnSpc>
              <a:spcBef>
                <a:spcPct val="0"/>
              </a:spcBef>
              <a:buFont typeface="Arial" panose="020B0604020202020204" pitchFamily="34" charset="0"/>
              <a:buChar char="•"/>
            </a:pPr>
            <a:r>
              <a:rPr lang="en-US" sz="3200" b="1" dirty="0">
                <a:solidFill>
                  <a:srgbClr val="F7DDAA"/>
                </a:solidFill>
                <a:latin typeface="Poppins"/>
                <a:ea typeface="Poppins"/>
                <a:cs typeface="Poppins"/>
                <a:sym typeface="Poppins"/>
              </a:rPr>
              <a:t>Instructor Donia Sakr</a:t>
            </a:r>
          </a:p>
          <a:p>
            <a:pPr algn="ctr">
              <a:lnSpc>
                <a:spcPts val="2940"/>
              </a:lnSpc>
              <a:spcBef>
                <a:spcPct val="0"/>
              </a:spcBef>
            </a:pPr>
            <a:endParaRPr lang="en-US" sz="3200" b="1" dirty="0">
              <a:solidFill>
                <a:srgbClr val="F7DDAA"/>
              </a:solidFill>
              <a:latin typeface="Poppins"/>
              <a:ea typeface="Poppins"/>
              <a:cs typeface="Poppins"/>
              <a:sym typeface="Poppins"/>
            </a:endParaRPr>
          </a:p>
        </p:txBody>
      </p:sp>
      <p:sp>
        <p:nvSpPr>
          <p:cNvPr id="7" name="TextBox 6">
            <a:extLst>
              <a:ext uri="{FF2B5EF4-FFF2-40B4-BE49-F238E27FC236}">
                <a16:creationId xmlns:a16="http://schemas.microsoft.com/office/drawing/2014/main" id="{8B02056B-ACCF-6C13-8F99-D3141FD09C27}"/>
              </a:ext>
            </a:extLst>
          </p:cNvPr>
          <p:cNvSpPr txBox="1"/>
          <p:nvPr/>
        </p:nvSpPr>
        <p:spPr>
          <a:xfrm>
            <a:off x="10490311" y="4621548"/>
            <a:ext cx="7199324" cy="3067506"/>
          </a:xfrm>
          <a:prstGeom prst="rect">
            <a:avLst/>
          </a:prstGeom>
          <a:noFill/>
        </p:spPr>
        <p:txBody>
          <a:bodyPr wrap="square">
            <a:spAutoFit/>
          </a:bodyPr>
          <a:lstStyle/>
          <a:p>
            <a:pPr algn="ctr">
              <a:lnSpc>
                <a:spcPts val="2940"/>
              </a:lnSpc>
            </a:pPr>
            <a:r>
              <a:rPr lang="en-US" sz="3200" b="1" dirty="0">
                <a:solidFill>
                  <a:srgbClr val="F7DDAA"/>
                </a:solidFill>
                <a:latin typeface="Poppins"/>
                <a:ea typeface="Poppins"/>
                <a:cs typeface="Poppins"/>
                <a:sym typeface="Poppins"/>
              </a:rPr>
              <a:t>Tools Used:</a:t>
            </a:r>
          </a:p>
          <a:p>
            <a:pPr algn="ctr">
              <a:lnSpc>
                <a:spcPts val="2940"/>
              </a:lnSpc>
            </a:pPr>
            <a:endParaRPr lang="en-US" sz="3200" b="1" dirty="0">
              <a:solidFill>
                <a:srgbClr val="F7DDAA"/>
              </a:solidFill>
              <a:latin typeface="Poppins"/>
              <a:ea typeface="Poppins"/>
              <a:cs typeface="Poppins"/>
              <a:sym typeface="Poppins"/>
            </a:endParaRP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Excel</a:t>
            </a: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Python </a:t>
            </a:r>
          </a:p>
          <a:p>
            <a:pPr marL="457200" indent="-457200">
              <a:lnSpc>
                <a:spcPts val="2940"/>
              </a:lnSpc>
              <a:buFont typeface="Arial" panose="020B0604020202020204" pitchFamily="34" charset="0"/>
              <a:buChar char="•"/>
            </a:pPr>
            <a:r>
              <a:rPr lang="en-US" sz="3200" b="1" dirty="0">
                <a:solidFill>
                  <a:srgbClr val="F7DDAA"/>
                </a:solidFill>
                <a:latin typeface="Poppins"/>
                <a:ea typeface="Poppins"/>
                <a:cs typeface="Poppins"/>
                <a:sym typeface="Poppins"/>
              </a:rPr>
              <a:t>Power BI</a:t>
            </a:r>
          </a:p>
          <a:p>
            <a:pPr marL="457200" indent="-457200">
              <a:lnSpc>
                <a:spcPts val="2940"/>
              </a:lnSpc>
              <a:spcBef>
                <a:spcPct val="0"/>
              </a:spcBef>
              <a:buFont typeface="Arial" panose="020B0604020202020204" pitchFamily="34" charset="0"/>
              <a:buChar char="•"/>
            </a:pPr>
            <a:r>
              <a:rPr lang="en-US" sz="3200" b="1" dirty="0">
                <a:solidFill>
                  <a:srgbClr val="F7DDAA"/>
                </a:solidFill>
                <a:latin typeface="Poppins"/>
                <a:ea typeface="Poppins"/>
                <a:cs typeface="Poppins"/>
                <a:sym typeface="Poppins"/>
              </a:rPr>
              <a:t>Machine Learning &amp; Forecasting</a:t>
            </a:r>
          </a:p>
          <a:p>
            <a:pPr marL="457200" indent="-457200">
              <a:lnSpc>
                <a:spcPts val="2940"/>
              </a:lnSpc>
              <a:spcBef>
                <a:spcPct val="0"/>
              </a:spcBef>
              <a:buFont typeface="Arial" panose="020B0604020202020204" pitchFamily="34" charset="0"/>
              <a:buChar char="•"/>
            </a:pPr>
            <a:r>
              <a:rPr lang="en-US" sz="3200" b="1" dirty="0">
                <a:solidFill>
                  <a:srgbClr val="F7DDAA"/>
                </a:solidFill>
                <a:latin typeface="Poppins"/>
                <a:ea typeface="Poppins"/>
                <a:cs typeface="Poppins"/>
                <a:sym typeface="Poppins"/>
              </a:rPr>
              <a:t>Figma</a:t>
            </a:r>
          </a:p>
          <a:p>
            <a:pPr algn="ctr">
              <a:lnSpc>
                <a:spcPts val="2940"/>
              </a:lnSpc>
              <a:spcBef>
                <a:spcPct val="0"/>
              </a:spcBef>
            </a:pPr>
            <a:endParaRPr lang="en-US" sz="3200" b="1" dirty="0">
              <a:solidFill>
                <a:srgbClr val="F7DDAA"/>
              </a:solidFill>
              <a:latin typeface="Poppins"/>
              <a:ea typeface="Poppins"/>
              <a:cs typeface="Poppins"/>
              <a:sym typeface="Poppins"/>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991</Words>
  <Application>Microsoft Office PowerPoint</Application>
  <PresentationFormat>Custom</PresentationFormat>
  <Paragraphs>167</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Anton</vt:lpstr>
      <vt:lpstr>Calibri</vt:lpstr>
      <vt:lpstr>Arial</vt:lpstr>
      <vt:lpstr>Poppins</vt:lpstr>
      <vt:lpstr>Poppins Bold Italics</vt:lpstr>
      <vt:lpstr>Poppins Bold</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and Gold Corporate Disaster Analysis Business Presentation</dc:title>
  <cp:lastModifiedBy>مريم مصطفى كامل فرغلى</cp:lastModifiedBy>
  <cp:revision>1</cp:revision>
  <dcterms:created xsi:type="dcterms:W3CDTF">2006-08-16T00:00:00Z</dcterms:created>
  <dcterms:modified xsi:type="dcterms:W3CDTF">2026-08-22T11:03:19Z</dcterms:modified>
  <dc:identifier>DAHS3T3WEW8</dc:identifier>
</cp:coreProperties>
</file>